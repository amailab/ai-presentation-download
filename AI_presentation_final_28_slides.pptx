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80" r:id="rId31"/>
    <p:sldId id="265" r:id="rId16"/>
    <p:sldId id="266" r:id="rId17"/>
    <p:sldId id="267" r:id="rId18"/>
    <p:sldId id="281" r:id="rId32"/>
    <p:sldId id="282" r:id="rId33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83" r:id="rId34"/>
    <p:sldId id="279" r:id="rId3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15.xml"/><Relationship Id="rId30" Type="http://schemas.openxmlformats.org/officeDocument/2006/relationships/slide" Target="slides/slide14.xml"/><Relationship Id="rId31" Type="http://schemas.openxmlformats.org/officeDocument/2006/relationships/slide" Target="slides/slide10.xml"/><Relationship Id="rId32" Type="http://schemas.openxmlformats.org/officeDocument/2006/relationships/slide" Target="slides/slide26.xml"/><Relationship Id="rId33" Type="http://schemas.openxmlformats.org/officeDocument/2006/relationships/slide" Target="slides/slide28.xml"/><Relationship Id="rId34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344400" y="-502920"/>
            <a:ext cx="1828800" cy="18288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167360" y="6217920"/>
            <a:ext cx="1463040" cy="146304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6720840"/>
            <a:ext cx="1143000" cy="11430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1950 → СЕГОДНЯ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85953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Aptos Display"/>
              </a:rPr>
              <a:t>Развитие
искусственного
интеллекта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720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От идеи «мыслящей машины» до ИИ‑агентов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715000"/>
            <a:ext cx="1828800" cy="475488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5833872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нейросети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5715000"/>
            <a:ext cx="1828800" cy="475488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5833872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данные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5715000"/>
            <a:ext cx="1828800" cy="475488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8072" y="5833872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генерация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5715000"/>
            <a:ext cx="1828800" cy="475488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6912" y="5833872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агенты</a:t>
            </a:r>
          </a:p>
        </p:txBody>
      </p:sp>
      <p:sp>
        <p:nvSpPr>
          <p:cNvPr id="16" name="Oval 15"/>
          <p:cNvSpPr/>
          <p:nvPr/>
        </p:nvSpPr>
        <p:spPr>
          <a:xfrm>
            <a:off x="10149840" y="1325880"/>
            <a:ext cx="2971800" cy="29718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08208" y="2267712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ИИ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121640" y="7452360"/>
            <a:ext cx="960120" cy="384048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01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344400" y="-502920"/>
            <a:ext cx="1828800" cy="18288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167360" y="6217920"/>
            <a:ext cx="1463040" cy="146304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6720840"/>
            <a:ext cx="1143000" cy="11430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ПРОСТАЯ СХЕМА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95097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ptos Display"/>
              </a:rPr>
              <a:t>ИИ — это цикл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0">
                <a:solidFill>
                  <a:srgbClr val="D7E0F5"/>
                </a:solidFill>
                <a:latin typeface="Aptos Display"/>
              </a:rPr>
              <a:t>Данные → обучение → решение → действие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2057400" cy="1078992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33087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ДАННЫЕ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096512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40E6FF"/>
                </a:solidFill>
                <a:latin typeface="Aptos Display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794760"/>
            <a:ext cx="2057400" cy="1078992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4133087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МОДЕЛЬ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4096512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40E6FF"/>
                </a:solidFill>
                <a:latin typeface="Aptos Display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794760"/>
            <a:ext cx="2057400" cy="1078992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133087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ОБУЧЕНИЕ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096512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40E6FF"/>
                </a:solidFill>
                <a:latin typeface="Aptos Display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3794760"/>
            <a:ext cx="2057400" cy="1078992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4133087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РЕШЕНИЕ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4096512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40E6FF"/>
                </a:solidFill>
                <a:latin typeface="Aptos Display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01400" y="3794760"/>
            <a:ext cx="2057400" cy="1078992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0" y="4133087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ДЕЙСТВИЕ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897880"/>
            <a:ext cx="11704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00" b="1">
                <a:solidFill>
                  <a:srgbClr val="FFDD52"/>
                </a:solidFill>
                <a:latin typeface="Aptos Display"/>
              </a:rPr>
              <a:t>Главная идея: качество данных + вычисления = качество результата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121640" y="7452360"/>
            <a:ext cx="960120" cy="384048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02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344400" y="-502920"/>
            <a:ext cx="1828800" cy="18288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167360" y="6217920"/>
            <a:ext cx="1463040" cy="146304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6720840"/>
            <a:ext cx="1143000" cy="11430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СТАРТ ИДЕИ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95097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ptos Display"/>
              </a:rPr>
              <a:t>1950: вопрос Тьюринга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0">
                <a:solidFill>
                  <a:srgbClr val="D7E0F5"/>
                </a:solidFill>
                <a:latin typeface="Aptos Display"/>
              </a:rPr>
              <a:t>«Может ли машина мыслить?»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325880"/>
            <a:ext cx="3474720" cy="480060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61320" y="1874519"/>
            <a:ext cx="1737360" cy="173736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48716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03050C"/>
                </a:solidFill>
                <a:latin typeface="Aptos Display"/>
              </a:rPr>
              <a:t>A.M.T.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4069080"/>
            <a:ext cx="28346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D7E0F5"/>
                </a:solidFill>
                <a:latin typeface="Aptos Display"/>
              </a:rPr>
              <a:t>Тест Тьюринга стал символом вопроса: может ли диалог скрыть машину?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34924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DD52"/>
                </a:solidFill>
                <a:latin typeface="Aptos Display"/>
              </a:rPr>
              <a:t>Факт: тогда ИИ был скорее философской идеей, чем индустрией.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121640" y="7452360"/>
            <a:ext cx="960120" cy="384048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03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344400" y="-502920"/>
            <a:ext cx="1828800" cy="18288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167360" y="6217920"/>
            <a:ext cx="1463040" cy="146304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6720840"/>
            <a:ext cx="1143000" cy="11430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ОФИЦИАЛЬНОЕ РОЖДЕНИЕ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95097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1956: появляется термин 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88920"/>
            <a:ext cx="12115800" cy="237744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324612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ДАРТМУТСКАЯ КОНФЕРЕНЦИЯ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05072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Учёные впервые называют направление искусственный интеллект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989320"/>
            <a:ext cx="11612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900" b="0">
                <a:solidFill>
                  <a:srgbClr val="D7E0F5"/>
                </a:solidFill>
                <a:latin typeface="Aptos Display"/>
              </a:rPr>
              <a:t>Вау‑факт: многие ожидали прорыв «за одно лето». Реальность заняла десятилетия.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121640" y="7452360"/>
            <a:ext cx="960120" cy="384048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04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344400" y="-502920"/>
            <a:ext cx="1828800" cy="18288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167360" y="6217920"/>
            <a:ext cx="1463040" cy="146304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6720840"/>
            <a:ext cx="1143000" cy="11430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НЕЙРОСЕТЬ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95097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ptos Display"/>
              </a:rPr>
              <a:t>1958: первые нейросети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0">
                <a:solidFill>
                  <a:srgbClr val="D7E0F5"/>
                </a:solidFill>
                <a:latin typeface="Aptos Display"/>
              </a:rPr>
              <a:t>Перцептрон распознавал простые образы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3246120"/>
            <a:ext cx="777240" cy="77724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057400" y="3630168"/>
            <a:ext cx="3977640" cy="923544"/>
          </a:xfrm>
          <a:prstGeom prst="line">
            <a:avLst/>
          </a:prstGeom>
          <a:ln w="38100">
            <a:solidFill>
              <a:srgbClr val="4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234440" y="4251960"/>
            <a:ext cx="777240" cy="77724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2057400" y="4553712"/>
            <a:ext cx="3977640" cy="82296"/>
          </a:xfrm>
          <a:prstGeom prst="line">
            <a:avLst/>
          </a:prstGeom>
          <a:ln w="38100">
            <a:solidFill>
              <a:srgbClr val="4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234440" y="5257800"/>
            <a:ext cx="777240" cy="77724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2057400" y="4553712"/>
            <a:ext cx="3977640" cy="1088136"/>
          </a:xfrm>
          <a:prstGeom prst="line">
            <a:avLst/>
          </a:prstGeom>
          <a:ln w="38100">
            <a:solidFill>
              <a:srgbClr val="4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989320" y="3886200"/>
            <a:ext cx="1353312" cy="1353312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233672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 Display"/>
              </a:rPr>
              <a:t>Σ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60920" y="4572000"/>
            <a:ext cx="3703320" cy="0"/>
          </a:xfrm>
          <a:prstGeom prst="line">
            <a:avLst/>
          </a:prstGeom>
          <a:ln w="38100">
            <a:solidFill>
              <a:srgbClr val="4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201400" y="4315968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DD52"/>
                </a:solidFill>
                <a:latin typeface="Aptos Display"/>
              </a:rPr>
              <a:t>ВЫХОД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121640" y="7452360"/>
            <a:ext cx="960120" cy="384048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05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344400" y="-502920"/>
            <a:ext cx="1828800" cy="18288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167360" y="6217920"/>
            <a:ext cx="1463040" cy="146304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6720840"/>
            <a:ext cx="1143000" cy="11430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ЗИМА 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95097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1970–80-е: зима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0">
                <a:solidFill>
                  <a:srgbClr val="D7E0F5"/>
                </a:solidFill>
                <a:latin typeface="Aptos Display"/>
              </a:rPr>
              <a:t>Интерес падал, когда обещания обгоняли возможности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3840480"/>
            <a:ext cx="9875520" cy="68580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D7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20240" y="3840480"/>
            <a:ext cx="3063240" cy="685800"/>
          </a:xfrm>
          <a:prstGeom prst="roundRect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DD52"/>
                </a:solidFill>
                <a:latin typeface="Aptos Display"/>
              </a:rPr>
              <a:t>Урок: ИИ растёт рывками — когда идеи встречаются с железом и данными.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121640" y="7452360"/>
            <a:ext cx="960120" cy="384048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06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344400" y="-502920"/>
            <a:ext cx="1828800" cy="18288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167360" y="6217920"/>
            <a:ext cx="1463040" cy="146304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6720840"/>
            <a:ext cx="1143000" cy="11430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ПРАВИЛА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95097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ptos Display"/>
              </a:rPr>
              <a:t>1980-е: экспертные системы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0">
                <a:solidFill>
                  <a:srgbClr val="D7E0F5"/>
                </a:solidFill>
                <a:latin typeface="Aptos Display"/>
              </a:rPr>
              <a:t>ИИ работал как база правил: «если → то»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3703320"/>
            <a:ext cx="3063240" cy="14173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4005072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 Display"/>
              </a:rPr>
              <a:t>ПРАВИЛА
ЭКСПЕРТА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409651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40E6FF"/>
                </a:solidFill>
                <a:latin typeface="Aptos Display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3703320"/>
            <a:ext cx="3063240" cy="14173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96128" y="4005072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 Display"/>
              </a:rPr>
              <a:t>БАЗА
ЗНАНИЙ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409651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40E6FF"/>
                </a:solidFill>
                <a:latin typeface="Aptos Display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3703320"/>
            <a:ext cx="3063240" cy="14173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48088" y="4005072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 Display"/>
              </a:rPr>
              <a:t>ОТВЕТ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121640" y="7452360"/>
            <a:ext cx="960120" cy="384048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07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344400" y="-502920"/>
            <a:ext cx="1828800" cy="18288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167360" y="6217920"/>
            <a:ext cx="1463040" cy="146304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6720840"/>
            <a:ext cx="1143000" cy="11430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ПОБЕДА НАД ЧЕЛОВЕКОМ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95097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ptos Display"/>
              </a:rPr>
              <a:t>1997: Deep Blue побеждает Каспарова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0">
                <a:solidFill>
                  <a:srgbClr val="D7E0F5"/>
                </a:solidFill>
                <a:latin typeface="Aptos Display"/>
              </a:rPr>
              <a:t>Шахматы стали символом машинной силы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2148840"/>
            <a:ext cx="1325880" cy="132588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2258568"/>
            <a:ext cx="1051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40E6FF"/>
                </a:solidFill>
                <a:latin typeface="Aptos Display"/>
              </a:rPr>
              <a:t>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27080" y="2148840"/>
            <a:ext cx="1325880" cy="132588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0" y="2258568"/>
            <a:ext cx="1051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FFDD52"/>
                </a:solidFill>
                <a:latin typeface="Aptos Display"/>
              </a:rPr>
              <a:t>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3749039"/>
            <a:ext cx="1325880" cy="132588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3858768"/>
            <a:ext cx="1051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78FFA5"/>
                </a:solidFill>
                <a:latin typeface="Aptos Display"/>
              </a:rPr>
              <a:t>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27080" y="3749039"/>
            <a:ext cx="1325880" cy="132588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0" y="3858768"/>
            <a:ext cx="1051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FF56BE"/>
                </a:solidFill>
                <a:latin typeface="Aptos Display"/>
              </a:rPr>
              <a:t>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8961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FFDD52"/>
                </a:solidFill>
                <a:latin typeface="Aptos Display"/>
              </a:rPr>
              <a:t>Это был не «разум», а мощный перебор вариантов + оценка позиции.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121640" y="7452360"/>
            <a:ext cx="960120" cy="384048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08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344400" y="-502920"/>
            <a:ext cx="1828800" cy="18288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167360" y="6217920"/>
            <a:ext cx="1463040" cy="146304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6720840"/>
            <a:ext cx="1143000" cy="11430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УСКОРЕНИЕ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95097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2012: глубокое обучение взлетает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Большие данные и видеокарты меняют скорость прогресса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03320"/>
            <a:ext cx="2514600" cy="14173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95928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БОЛЬШИЕ</a:t>
            </a:r>
          </a:p>
          <a:p>
            <a:r>
              <a:t>ДАННЫЕ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3703320"/>
            <a:ext cx="2514600" cy="14173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3995928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GPU / ВИДЕОКАРТЫ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4656" y="3703320"/>
            <a:ext cx="2514600" cy="14173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7536" y="3995928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НЕЙРО
СЕТИ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44784" y="3703320"/>
            <a:ext cx="2514600" cy="14173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27663" y="3995928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ОБЛАКО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9893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D7E0F5"/>
                </a:solidFill>
                <a:latin typeface="Aptos Display"/>
              </a:rPr>
              <a:t>Факт: видеокарты из игровой индустрии стали топливом современного ИИ.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121640" y="7452360"/>
            <a:ext cx="960120" cy="384048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09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527280" y="-457200"/>
            <a:ext cx="1920240" cy="192024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38760" y="6126480"/>
            <a:ext cx="1600200" cy="160020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СТАТИСТИКА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32688"/>
            <a:ext cx="1115568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 Display"/>
              </a:rPr>
              <a:t>ИИ стал рабочим инструментом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>
                <a:solidFill>
                  <a:srgbClr val="D7E0F5"/>
                </a:solidFill>
                <a:latin typeface="Aptos Display"/>
              </a:rPr>
              <a:t>Доля организаций, использующих ИИ, резко выросла за один год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DD52"/>
                </a:solidFill>
                <a:latin typeface="Aptos Display"/>
              </a:rPr>
              <a:t>Доля организаций, использующих 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50215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2023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886200"/>
            <a:ext cx="7772400" cy="566928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86200"/>
            <a:ext cx="4274820" cy="566928"/>
          </a:xfrm>
          <a:prstGeom prst="roundRect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7548" y="3959352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40E6FF"/>
                </a:solidFill>
                <a:latin typeface="Aptos Display"/>
              </a:rPr>
              <a:t>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9943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2024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983480"/>
            <a:ext cx="7772400" cy="566928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4983480"/>
            <a:ext cx="6062472" cy="566928"/>
          </a:xfrm>
          <a:prstGeom prst="roundRect">
            <a:avLst/>
          </a:prstGeom>
          <a:solidFill>
            <a:srgbClr val="78F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5056632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78FFA5"/>
                </a:solidFill>
                <a:latin typeface="Aptos Display"/>
              </a:rPr>
              <a:t>78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3291840"/>
            <a:ext cx="3063240" cy="242316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42448" y="37033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FFDD52"/>
                </a:solidFill>
                <a:latin typeface="Aptos Display"/>
              </a:rPr>
              <a:t>+23 п.п.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440740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за год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67208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7E0F5"/>
                </a:solidFill>
                <a:latin typeface="Aptos Display"/>
              </a:rPr>
              <a:t>Источник: Stanford AI Index 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344400" y="-502920"/>
            <a:ext cx="1828800" cy="18288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167360" y="6217920"/>
            <a:ext cx="1463040" cy="146304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6720840"/>
            <a:ext cx="1143000" cy="11430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ИНТУИЦИЯ МАШИН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95097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ptos Display"/>
              </a:rPr>
              <a:t>2016: AlphaGo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0">
                <a:solidFill>
                  <a:srgbClr val="D7E0F5"/>
                </a:solidFill>
                <a:latin typeface="Aptos Display"/>
              </a:rPr>
              <a:t>ИИ начинает находить «нечеловеческие» решения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1737360"/>
            <a:ext cx="3246120" cy="32461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9669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875520" y="2148840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241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20" y="2606040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8813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875520" y="3063240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3385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875520" y="3520440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7957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75520" y="3977639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2529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20" y="4434840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0149840" y="2423160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D7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09960" y="2880360"/>
            <a:ext cx="347472" cy="347472"/>
          </a:xfrm>
          <a:prstGeom prst="ellipse">
            <a:avLst/>
          </a:prstGeom>
          <a:solidFill>
            <a:srgbClr val="03050C"/>
          </a:solidFill>
          <a:ln>
            <a:solidFill>
              <a:srgbClr val="D7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67160" y="3749039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D7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61320" y="4160520"/>
            <a:ext cx="347472" cy="347472"/>
          </a:xfrm>
          <a:prstGeom prst="ellipse">
            <a:avLst/>
          </a:prstGeom>
          <a:solidFill>
            <a:srgbClr val="03050C"/>
          </a:solidFill>
          <a:ln>
            <a:solidFill>
              <a:srgbClr val="D7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23560"/>
            <a:ext cx="8869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FFDD52"/>
                </a:solidFill>
                <a:latin typeface="Aptos Display"/>
              </a:rPr>
              <a:t>Главный эффект: ИИ перестал просто считать — он начал удивлять стратегией.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121640" y="7452360"/>
            <a:ext cx="960120" cy="384048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344400" y="-502920"/>
            <a:ext cx="1828800" cy="18288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167360" y="6217920"/>
            <a:ext cx="1463040" cy="146304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6720840"/>
            <a:ext cx="1143000" cy="11430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НОВАЯ АРХИТЕКТУРА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95097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2017: трансформер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Механизм внимания сделал модели контекстными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94760"/>
            <a:ext cx="2331720" cy="114300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1788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СЛОВА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4133087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40E6FF"/>
                </a:solidFill>
                <a:latin typeface="Aptos Display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3794760"/>
            <a:ext cx="2331720" cy="114300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41788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ВНИМАНИЕ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133087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40E6FF"/>
                </a:solidFill>
                <a:latin typeface="Aptos Display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78624" y="3794760"/>
            <a:ext cx="2331720" cy="114300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41788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КОНТЕКСТ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65792" y="4133087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40E6FF"/>
                </a:solidFill>
                <a:latin typeface="Aptos Display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60736" y="3794760"/>
            <a:ext cx="2331720" cy="114300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70463" y="41788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ОТВЕТ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97880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D7E0F5"/>
                </a:solidFill>
                <a:latin typeface="Aptos Display"/>
              </a:rPr>
              <a:t>Это фундамент ChatGPT, генерации кода, мультимодальных моделей и агентов.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121640" y="7452360"/>
            <a:ext cx="960120" cy="384048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344400" y="-502920"/>
            <a:ext cx="1828800" cy="18288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167360" y="6217920"/>
            <a:ext cx="1463040" cy="146304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6720840"/>
            <a:ext cx="1143000" cy="11430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НОВАЯ МАССОВОСТЬ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95097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ptos Display"/>
              </a:rPr>
              <a:t>2020-е: генеративный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0">
                <a:solidFill>
                  <a:srgbClr val="D7E0F5"/>
                </a:solidFill>
                <a:latin typeface="Aptos Display"/>
              </a:rPr>
              <a:t>ИИ начинает создавать, а не только анализировать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40"/>
            <a:ext cx="2971800" cy="105156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1071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ТЕКСТ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3063240"/>
            <a:ext cx="2971800" cy="105156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341071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КАРТИНКИ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3063240"/>
            <a:ext cx="2971800" cy="105156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341071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ВИДЕО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572000"/>
            <a:ext cx="2971800" cy="105156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91947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ГОЛОС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4572000"/>
            <a:ext cx="2971800" cy="105156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491947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КОД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4572000"/>
            <a:ext cx="2971800" cy="105156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491947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3D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121640" y="7452360"/>
            <a:ext cx="960120" cy="384048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527280" y="-457200"/>
            <a:ext cx="1920240" cy="192024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38760" y="6126480"/>
            <a:ext cx="1600200" cy="160020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ФИНАЛ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051560"/>
            <a:ext cx="1170432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ptos Display"/>
              </a:rPr>
              <a:t>ИИ развивается
через людей
и инструменты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16052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D7E0F5"/>
                </a:solidFill>
                <a:latin typeface="Aptos Display"/>
              </a:rPr>
              <a:t>Следующий этап — не просто модели, а агенты, которые понимают задачу, используют инструменты и отвечают за результат.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5989320"/>
            <a:ext cx="2011680" cy="5029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21992" y="6135624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люди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5989320"/>
            <a:ext cx="2011680" cy="5029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9472" y="6135624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модели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5989320"/>
            <a:ext cx="2011680" cy="5029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6135624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инструменты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5989320"/>
            <a:ext cx="2011680" cy="5029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14432" y="6135624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агенты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28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527280" y="-457200"/>
            <a:ext cx="1920240" cy="192024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38760" y="6126480"/>
            <a:ext cx="1600200" cy="160020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АРХИТЕКТУРА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32688"/>
            <a:ext cx="110642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 Display"/>
              </a:rPr>
              <a:t>OpenClaw: как устроен ИИ‑агент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>
                <a:solidFill>
                  <a:srgbClr val="D7E0F5"/>
                </a:solidFill>
                <a:latin typeface="Aptos Display"/>
              </a:rPr>
              <a:t>Локальный Gateway связывает мессенджеры, модели, инструменты и память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2423160" cy="100584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77056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
WhatsApp
веб‑интерфейс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3337560"/>
            <a:ext cx="2560320" cy="16459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557015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Gateway
маршрутизация
сессии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3337560"/>
            <a:ext cx="2606040" cy="16459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3557015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Среда агента
Codex / Claude
модель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69880" y="3337560"/>
            <a:ext cx="2788920" cy="16459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3557015"/>
            <a:ext cx="2514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Инструменты
файлы · web
GitHub · shell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17520" y="4160520"/>
            <a:ext cx="685800" cy="0"/>
          </a:xfrm>
          <a:prstGeom prst="line">
            <a:avLst/>
          </a:prstGeom>
          <a:ln w="38100">
            <a:solidFill>
              <a:srgbClr val="4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263640" y="4160520"/>
            <a:ext cx="822960" cy="0"/>
          </a:xfrm>
          <a:prstGeom prst="line">
            <a:avLst/>
          </a:prstGeom>
          <a:ln w="38100">
            <a:solidFill>
              <a:srgbClr val="4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92640" y="4160520"/>
            <a:ext cx="777240" cy="0"/>
          </a:xfrm>
          <a:prstGeom prst="line">
            <a:avLst/>
          </a:prstGeom>
          <a:ln w="38100">
            <a:solidFill>
              <a:srgbClr val="4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5840" y="5989320"/>
            <a:ext cx="2468880" cy="5029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613562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навыки = инструкции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5989320"/>
            <a:ext cx="2468880" cy="5029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33672" y="613562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плагины = расширения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5989320"/>
            <a:ext cx="2468880" cy="5029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8352" y="613562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память = контекст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69880" y="5989320"/>
            <a:ext cx="2468880" cy="5029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43032" y="613562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подтверждения = безопасность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6720840"/>
            <a:ext cx="1234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D7E0F5"/>
                </a:solidFill>
                <a:latin typeface="Aptos Display"/>
              </a:rPr>
              <a:t>Ключевая идея: OpenClaw — слой управления агентами: каналы → Gateway → среда агента → инструменты → ответ.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26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527280" y="-457200"/>
            <a:ext cx="1920240" cy="192024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38760" y="6126480"/>
            <a:ext cx="1600200" cy="160020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СЕГОДНЯ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32688"/>
            <a:ext cx="110642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 Display"/>
              </a:rPr>
              <a:t>ИИ‑агенты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>
                <a:solidFill>
                  <a:srgbClr val="D7E0F5"/>
                </a:solidFill>
                <a:latin typeface="Aptos Display"/>
              </a:rPr>
              <a:t>Понятная схема: цель → агент → инструменты → результат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886200"/>
            <a:ext cx="2423160" cy="123444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41148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40E6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062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ЦЕЛЬ
пользователя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42976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0E6FF"/>
                </a:solidFill>
                <a:latin typeface="Aptos Display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3886200"/>
            <a:ext cx="2423160" cy="123444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7911" y="41148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DD52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2062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ИИ‑АГЕНТ
модель + память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7" y="42976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0E6FF"/>
                </a:solidFill>
                <a:latin typeface="Aptos Display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886200"/>
            <a:ext cx="2423160" cy="123444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68312" y="41148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78FFA5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2062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ИНСТРУМЕНТЫ
браузер · файлы · 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42976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0E6FF"/>
                </a:solidFill>
                <a:latin typeface="Aptos Display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78440" y="3886200"/>
            <a:ext cx="2423160" cy="123444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43032" y="41148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56BE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42062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РЕЗУЛЬТАТ
готовое действие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13632" y="5623560"/>
            <a:ext cx="822960" cy="5029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86784" y="5769864"/>
            <a:ext cx="6766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контекст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73752" y="5623560"/>
            <a:ext cx="822960" cy="5029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46904" y="5769864"/>
            <a:ext cx="6766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план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33872" y="5623560"/>
            <a:ext cx="822960" cy="5029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5769864"/>
            <a:ext cx="6766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проверка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6446520"/>
            <a:ext cx="11612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D7E0F5"/>
                </a:solidFill>
                <a:latin typeface="Aptos Display"/>
              </a:rPr>
              <a:t>Смысл: агент не просто отвечает текстом — он берёт задачу, выбирает инструмент и доводит до результата.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344400" y="-502920"/>
            <a:ext cx="1828800" cy="18288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167360" y="6217920"/>
            <a:ext cx="1463040" cy="146304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6720840"/>
            <a:ext cx="1143000" cy="11430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ВАУ‑ФАКТЫ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95097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ptos Display"/>
              </a:rPr>
              <a:t>5 фактов, которые цепляют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80360"/>
            <a:ext cx="2423160" cy="251460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3154680"/>
            <a:ext cx="685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40E6FF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Термин ИИ появился в 1956 году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880360"/>
            <a:ext cx="2423160" cy="251460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3154680"/>
            <a:ext cx="685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DD52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977639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Первые нейросети старше интернета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880360"/>
            <a:ext cx="2423160" cy="251460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3154680"/>
            <a:ext cx="685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78FFA5"/>
                </a:solidFill>
                <a:latin typeface="Aptos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977639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GPU / ВИДЕОКАРТЫ из игр ускорили 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2880360"/>
            <a:ext cx="2423160" cy="251460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1" y="3154680"/>
            <a:ext cx="685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56BE"/>
                </a:solidFill>
                <a:latin typeface="Aptos Display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59" y="3977639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ChatGPT сделал ИИ массовым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41480" y="2880360"/>
            <a:ext cx="2423160" cy="251460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6072" y="3154680"/>
            <a:ext cx="685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A54C"/>
                </a:solidFill>
                <a:latin typeface="Aptos Display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0" y="3977639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Следующий шаг — агенты и роботы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121640" y="7452360"/>
            <a:ext cx="960120" cy="384048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344400" y="-502920"/>
            <a:ext cx="1828800" cy="18288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167360" y="6217920"/>
            <a:ext cx="1463040" cy="146304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6720840"/>
            <a:ext cx="1143000" cy="114300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ВЫВОД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1612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Aptos Display"/>
              </a:rPr>
              <a:t>ИИ стал новым
инструментом мышления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70332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0">
                <a:solidFill>
                  <a:srgbClr val="D7E0F5"/>
                </a:solidFill>
                <a:latin typeface="Aptos Display"/>
              </a:rPr>
              <a:t>Сначала машины считали. Потом распознавали. Теперь — создают и действуют.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5806440"/>
            <a:ext cx="1600200" cy="475488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1952" y="5925312"/>
            <a:ext cx="1453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идея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5806440"/>
            <a:ext cx="1600200" cy="475488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50791" y="5925312"/>
            <a:ext cx="1453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правила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5806440"/>
            <a:ext cx="1600200" cy="475488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5925312"/>
            <a:ext cx="1453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данные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5806440"/>
            <a:ext cx="1600200" cy="475488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5925312"/>
            <a:ext cx="1453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генерация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24160" y="5806440"/>
            <a:ext cx="1600200" cy="475488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97312" y="5925312"/>
            <a:ext cx="1453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агенты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121640" y="7452360"/>
            <a:ext cx="960120" cy="384048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527280" y="-457200"/>
            <a:ext cx="1920240" cy="192024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38760" y="6126480"/>
            <a:ext cx="1600200" cy="160020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НОВЫЙ БЛОК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32688"/>
            <a:ext cx="103327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ptos Display"/>
              </a:rPr>
              <a:t>Люди, которые
двигают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D7E0F5"/>
                </a:solidFill>
                <a:latin typeface="Aptos Display"/>
              </a:rPr>
              <a:t>За технологиями стоят конкретные учёные, инженеры и предприниматели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92040"/>
            <a:ext cx="2468880" cy="658368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5093208"/>
            <a:ext cx="22311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учёные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4892040"/>
            <a:ext cx="2468880" cy="658368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5093208"/>
            <a:ext cx="22311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создатели моделей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68896" y="4892040"/>
            <a:ext cx="2468880" cy="658368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7768" y="5093208"/>
            <a:ext cx="22311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продуктовые лидеры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96144" y="4892040"/>
            <a:ext cx="2468880" cy="658368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15016" y="5093208"/>
            <a:ext cx="22311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ИИ safety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121640" y="7452360"/>
            <a:ext cx="960120" cy="384048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527280" y="-457200"/>
            <a:ext cx="1920240" cy="192024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38760" y="6126480"/>
            <a:ext cx="1600200" cy="160020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ОСНОВАТЕЛИ ГЛУБОКОГО ОБУЧЕНИЯ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32688"/>
            <a:ext cx="110642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 Display"/>
              </a:rPr>
              <a:t>Люди, которые заложили фундамент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>
                <a:solidFill>
                  <a:srgbClr val="D7E0F5"/>
                </a:solidFill>
                <a:latin typeface="Aptos Display"/>
              </a:rPr>
              <a:t>Ключевые фигуры нейросетей и машинного обучения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3127248" cy="201168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291840"/>
            <a:ext cx="896112" cy="896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38528" y="324612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Geoffrey Hinton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3685032"/>
            <a:ext cx="16459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7E0F5"/>
                </a:solidFill>
                <a:latin typeface="Aptos Display"/>
              </a:rPr>
              <a:t>нейросети, обратное распространение ошибки, Нобель 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971800"/>
            <a:ext cx="3127248" cy="201168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3291840"/>
            <a:ext cx="896112" cy="8961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67528" y="324612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Yann LeCun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3685032"/>
            <a:ext cx="16459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7E0F5"/>
                </a:solidFill>
                <a:latin typeface="Aptos Display"/>
              </a:rPr>
              <a:t>свёрточные сети, компьютерное зрение, Meta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3127248" cy="201168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3291840"/>
            <a:ext cx="896112" cy="8961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796528" y="324612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Yoshua Bengio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3685032"/>
            <a:ext cx="16459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7E0F5"/>
                </a:solidFill>
                <a:latin typeface="Aptos Display"/>
              </a:rPr>
              <a:t>глубокое обучение, этика и безопасность 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18520" y="2971800"/>
            <a:ext cx="3127248" cy="201168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291840"/>
            <a:ext cx="896112" cy="89611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225528" y="324612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John Hopfield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25528" y="3685032"/>
            <a:ext cx="16459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7E0F5"/>
                </a:solidFill>
                <a:latin typeface="Aptos Display"/>
              </a:rPr>
              <a:t>сети Хопфилда, Нобель по физике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989320"/>
            <a:ext cx="1188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DD52"/>
                </a:solidFill>
                <a:latin typeface="Aptos Display"/>
              </a:rPr>
              <a:t>Факт: в 2024 Хинтон и Хопфилд получили Нобелевскую премию по физике за основы машинного обучения.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527280" y="-457200"/>
            <a:ext cx="1920240" cy="192024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38760" y="6126480"/>
            <a:ext cx="1600200" cy="160020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СОВРЕМЕННЫЕ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32688"/>
            <a:ext cx="110642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 Display"/>
              </a:rPr>
              <a:t>Илья Суцкевер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>
                <a:solidFill>
                  <a:srgbClr val="D7E0F5"/>
                </a:solidFill>
                <a:latin typeface="Aptos Display"/>
              </a:rPr>
              <a:t>Один из ключевых исследователей эпохи GPT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08760"/>
            <a:ext cx="2606040" cy="2606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14400" y="3063240"/>
            <a:ext cx="5029200" cy="54864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218688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 Display"/>
              </a:rPr>
              <a:t>глубокое обучение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67912"/>
            <a:ext cx="5029200" cy="54864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023360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 Display"/>
              </a:rPr>
              <a:t>seq2seq: работа с последовательностями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72584"/>
            <a:ext cx="5029200" cy="54864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828032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 Display"/>
              </a:rPr>
              <a:t>OpenAI / GPT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477256"/>
            <a:ext cx="5029200" cy="54864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632704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 Display"/>
              </a:rPr>
              <a:t>безопасность 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572000"/>
            <a:ext cx="571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7E0F5"/>
                </a:solidFill>
                <a:latin typeface="Aptos Display"/>
              </a:rPr>
              <a:t>Главная мысль: современные чат‑модели появились благодаря исследователям, которые научили нейросети работать с языком, контекстом и рассуждением.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527280" y="-457200"/>
            <a:ext cx="1920240" cy="192024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38760" y="6126480"/>
            <a:ext cx="1600200" cy="160020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СОЗДАТЕЛИ ПРОДУКТОВ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32688"/>
            <a:ext cx="110642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 Display"/>
              </a:rPr>
              <a:t>Кто сделал ИИ массовым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>
                <a:solidFill>
                  <a:srgbClr val="D7E0F5"/>
                </a:solidFill>
                <a:latin typeface="Aptos Display"/>
              </a:rPr>
              <a:t>От лабораторий — к миллионам пользователей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34640"/>
            <a:ext cx="3127248" cy="201168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154680"/>
            <a:ext cx="896112" cy="896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21408" y="310896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Sam Altman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3547872"/>
            <a:ext cx="16459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7E0F5"/>
                </a:solidFill>
                <a:latin typeface="Aptos Display"/>
              </a:rPr>
              <a:t>OpenAI, ChatGPT как массовый продукт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834640"/>
            <a:ext cx="3127248" cy="201168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3154680"/>
            <a:ext cx="896112" cy="8961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50408" y="310896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Demis Hassabis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8" y="3547872"/>
            <a:ext cx="16459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7E0F5"/>
                </a:solidFill>
                <a:latin typeface="Aptos Display"/>
              </a:rPr>
              <a:t>DeepMind, AlphaGo, научный 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127248" cy="201168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154680"/>
            <a:ext cx="896112" cy="8961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79408" y="310896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Fei‑Fei 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8" y="3547872"/>
            <a:ext cx="16459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7E0F5"/>
                </a:solidFill>
                <a:latin typeface="Aptos Display"/>
              </a:rPr>
              <a:t>ImageNet, компьютерное зрение, человекоцентричный 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01400" y="2834640"/>
            <a:ext cx="3127248" cy="201168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5992" y="3154680"/>
            <a:ext cx="896112" cy="89611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408408" y="310896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Andrew 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08408" y="3547872"/>
            <a:ext cx="16459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7E0F5"/>
                </a:solidFill>
                <a:latin typeface="Aptos Display"/>
              </a:rPr>
              <a:t>образование, прикладное машинное обучение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897880"/>
            <a:ext cx="11612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FFDD52"/>
                </a:solidFill>
                <a:latin typeface="Aptos Display"/>
              </a:rPr>
              <a:t>ИИ стал массовым из‑за сочетания науки, продуктов, данных и образования.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527280" y="-457200"/>
            <a:ext cx="1920240" cy="192024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38760" y="6126480"/>
            <a:ext cx="1600200" cy="160020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ИНФРАСТРУКТУРА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32688"/>
            <a:ext cx="110642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 Display"/>
              </a:rPr>
              <a:t>Люди за вычислениями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>
                <a:solidFill>
                  <a:srgbClr val="D7E0F5"/>
                </a:solidFill>
                <a:latin typeface="Aptos Display"/>
              </a:rPr>
              <a:t>Без чипов, облаков и безопасных моделей не было бы ИИ‑бума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880360"/>
            <a:ext cx="3127248" cy="201168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3200400"/>
            <a:ext cx="896112" cy="896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12848" y="3154679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Jensen Huang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3593591"/>
            <a:ext cx="16459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7E0F5"/>
                </a:solidFill>
                <a:latin typeface="Aptos Display"/>
              </a:rPr>
              <a:t>NVIDIA, GPU‑инфраструктура для 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880360"/>
            <a:ext cx="3127248" cy="201168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3200400"/>
            <a:ext cx="896112" cy="8961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87568" y="3154679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Satya Nadella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593591"/>
            <a:ext cx="16459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7E0F5"/>
                </a:solidFill>
                <a:latin typeface="Aptos Display"/>
              </a:rPr>
              <a:t>Microsoft, облако и Copilot‑экосистема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880360"/>
            <a:ext cx="3127248" cy="201168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1" y="3200400"/>
            <a:ext cx="896112" cy="8961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62288" y="3154679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Dario Amodei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3593591"/>
            <a:ext cx="16459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7E0F5"/>
                </a:solidFill>
                <a:latin typeface="Aptos Display"/>
              </a:rPr>
              <a:t>Anthropic, Claude и безопасные модели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384280" y="2880360"/>
            <a:ext cx="2148840" cy="201168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31168" y="331012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56BE"/>
                </a:solidFill>
                <a:latin typeface="Aptos Display"/>
              </a:rPr>
              <a:t>ФОРМУЛА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3767328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модели
+ данные
+ GPU
+ продукт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527280" y="-457200"/>
            <a:ext cx="1920240" cy="192024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38760" y="6126480"/>
            <a:ext cx="1600200" cy="160020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КАРТА ВЛИЯНИЯ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32688"/>
            <a:ext cx="103327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ptos Display"/>
              </a:rPr>
              <a:t>Как люди связаны с эпохами ИИ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" y="4206240"/>
            <a:ext cx="11978640" cy="0"/>
          </a:xfrm>
          <a:prstGeom prst="line">
            <a:avLst/>
          </a:prstGeom>
          <a:ln w="254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14400" y="4005072"/>
            <a:ext cx="402336" cy="402336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364991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40E6FF"/>
                </a:solidFill>
                <a:latin typeface="Aptos Display"/>
              </a:rPr>
              <a:t>1950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61772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Тьюринг</a:t>
            </a:r>
          </a:p>
        </p:txBody>
      </p:sp>
      <p:sp>
        <p:nvSpPr>
          <p:cNvPr id="11" name="Oval 10"/>
          <p:cNvSpPr/>
          <p:nvPr/>
        </p:nvSpPr>
        <p:spPr>
          <a:xfrm>
            <a:off x="2971800" y="4005072"/>
            <a:ext cx="402336" cy="402336"/>
          </a:xfrm>
          <a:prstGeom prst="ellipse">
            <a:avLst/>
          </a:prstGeom>
          <a:solidFill>
            <a:srgbClr val="FFD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3364991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DD52"/>
                </a:solidFill>
                <a:latin typeface="Aptos Display"/>
              </a:rPr>
              <a:t>1956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61772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Маккарти</a:t>
            </a:r>
          </a:p>
        </p:txBody>
      </p:sp>
      <p:sp>
        <p:nvSpPr>
          <p:cNvPr id="14" name="Oval 13"/>
          <p:cNvSpPr/>
          <p:nvPr/>
        </p:nvSpPr>
        <p:spPr>
          <a:xfrm>
            <a:off x="5212080" y="4005072"/>
            <a:ext cx="402336" cy="402336"/>
          </a:xfrm>
          <a:prstGeom prst="ellipse">
            <a:avLst/>
          </a:prstGeom>
          <a:solidFill>
            <a:srgbClr val="78F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3364991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78FFA5"/>
                </a:solidFill>
                <a:latin typeface="Aptos Display"/>
              </a:rPr>
              <a:t>1980–2010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61772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Хинтон / ЛеКун / Бенжио</a:t>
            </a:r>
          </a:p>
        </p:txBody>
      </p:sp>
      <p:sp>
        <p:nvSpPr>
          <p:cNvPr id="17" name="Oval 16"/>
          <p:cNvSpPr/>
          <p:nvPr/>
        </p:nvSpPr>
        <p:spPr>
          <a:xfrm>
            <a:off x="7909560" y="4005072"/>
            <a:ext cx="402336" cy="402336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3364991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56BE"/>
                </a:solidFill>
                <a:latin typeface="Aptos Display"/>
              </a:rPr>
              <a:t>2012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61772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AlexNet / GPU / ВИДЕОКАРТЫ</a:t>
            </a:r>
          </a:p>
        </p:txBody>
      </p:sp>
      <p:sp>
        <p:nvSpPr>
          <p:cNvPr id="20" name="Oval 19"/>
          <p:cNvSpPr/>
          <p:nvPr/>
        </p:nvSpPr>
        <p:spPr>
          <a:xfrm>
            <a:off x="10424160" y="4005072"/>
            <a:ext cx="402336" cy="402336"/>
          </a:xfrm>
          <a:prstGeom prst="ellipse">
            <a:avLst/>
          </a:prstGeom>
          <a:solidFill>
            <a:srgbClr val="FFA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3364991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A54C"/>
                </a:solidFill>
                <a:latin typeface="Aptos Display"/>
              </a:rPr>
              <a:t>2020-е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461772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Суцкевер / Altman / Hassabis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6080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D7E0F5"/>
                </a:solidFill>
                <a:latin typeface="Aptos Display"/>
              </a:rPr>
              <a:t>Так презентация показывает не только технологии, но и людей за ними.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121640" y="7452360"/>
            <a:ext cx="960120" cy="384048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527280" y="-457200"/>
            <a:ext cx="1920240" cy="192024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38760" y="6126480"/>
            <a:ext cx="1600200" cy="160020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ИНСТРУМЕНТЫ РАЗРАБОТЧИКА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32688"/>
            <a:ext cx="110642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 Display"/>
              </a:rPr>
              <a:t>Codex, OpenCode
и 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>
                <a:solidFill>
                  <a:srgbClr val="D7E0F5"/>
                </a:solidFill>
                <a:latin typeface="Aptos Display"/>
              </a:rPr>
              <a:t>ИИ становится напарником программиста: читает проект, пишет код, запускает проверки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154680"/>
            <a:ext cx="3977639" cy="205740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45643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40E6FF"/>
                </a:solidFill>
                <a:latin typeface="Aptos Display"/>
              </a:rPr>
              <a:t>Codex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977639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OpenAI / Codex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4407408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D7E0F5"/>
                </a:solidFill>
                <a:latin typeface="Aptos Display"/>
              </a:rPr>
              <a:t>агент для задач с кодом, терминалом и репозиторием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3154680"/>
            <a:ext cx="3977639" cy="205740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05272" y="345643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DD52"/>
                </a:solidFill>
                <a:latin typeface="Aptos Display"/>
              </a:rPr>
              <a:t>OpenCode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6712" y="3977639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открытый подход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6712" y="4407408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D7E0F5"/>
                </a:solidFill>
                <a:latin typeface="Aptos Display"/>
              </a:rPr>
              <a:t>командная строка и агент для разработки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21240" y="3154680"/>
            <a:ext cx="3977639" cy="205740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77272" y="345643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78FFA5"/>
                </a:solidFill>
                <a:latin typeface="Aptos Display"/>
              </a:rPr>
              <a:t>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68712" y="3977639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Anthropic 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68712" y="4407408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D7E0F5"/>
                </a:solidFill>
                <a:latin typeface="Aptos Display"/>
              </a:rPr>
              <a:t>помощник для анализа, рефакторинга и архитектуры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5989320"/>
            <a:ext cx="2240280" cy="5029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2" y="6135624"/>
            <a:ext cx="20939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контекст проекта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5989320"/>
            <a:ext cx="2240280" cy="5029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5112" y="6135624"/>
            <a:ext cx="20939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генерация кода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5989320"/>
            <a:ext cx="2240280" cy="5029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96912" y="6135624"/>
            <a:ext cx="20939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тесты и правки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5989320"/>
            <a:ext cx="2240280" cy="5029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8712" y="6135624"/>
            <a:ext cx="20939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pull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720840"/>
            <a:ext cx="12070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DD52"/>
                </a:solidFill>
                <a:latin typeface="Aptos Display"/>
              </a:rPr>
              <a:t>Полезно студентам: учитесь не “просить код”, а ставить задачу, проверять результат и понимать архитектуру.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527280" y="-457200"/>
            <a:ext cx="1920240" cy="192024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38760" y="6126480"/>
            <a:ext cx="1600200" cy="160020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СТАТИСТИКА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32688"/>
            <a:ext cx="1115568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 Display"/>
              </a:rPr>
              <a:t>Генеративный ИИ вошёл в компании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Регулярное использование генеративного ИИ почти удвоилось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DD52"/>
                </a:solidFill>
                <a:latin typeface="Aptos Display"/>
              </a:rPr>
              <a:t>Регулярное использование генеративного 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337559"/>
            <a:ext cx="1325880" cy="246888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D7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4642539"/>
            <a:ext cx="1325880" cy="1163900"/>
          </a:xfrm>
          <a:prstGeom prst="roundRect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231059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40E6FF"/>
                </a:solidFill>
                <a:latin typeface="Aptos Display"/>
              </a:rPr>
              <a:t>33%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971031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2023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3337559"/>
            <a:ext cx="1325880" cy="246888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D7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60" y="3513908"/>
            <a:ext cx="1325880" cy="2292531"/>
          </a:xfrm>
          <a:prstGeom prst="roundRect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310242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56BE"/>
                </a:solidFill>
                <a:latin typeface="Aptos Display"/>
              </a:rPr>
              <a:t>65%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5971031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2024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246120" y="3794760"/>
            <a:ext cx="886967" cy="960120"/>
          </a:xfrm>
          <a:prstGeom prst="line">
            <a:avLst/>
          </a:prstGeom>
          <a:ln w="381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58000" y="3246120"/>
            <a:ext cx="5394960" cy="219456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36118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78FFA5"/>
                </a:solidFill>
                <a:latin typeface="Aptos Display"/>
              </a:rPr>
              <a:t>Что это значит для студентов?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4160520"/>
            <a:ext cx="4617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 Display"/>
              </a:rPr>
              <a:t>Умение работать с ИИ становится базовой цифровой грамотностью: промпты, проверка фактов, код, данные, автоматизация.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67208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7E0F5"/>
                </a:solidFill>
                <a:latin typeface="Aptos Display"/>
              </a:rPr>
              <a:t>Источник: McKinsey Global Survey on AI, 2024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14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527280" y="-457200"/>
            <a:ext cx="1920240" cy="192024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38760" y="6126480"/>
            <a:ext cx="1600200" cy="160020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ЧТО ЧИТАТЬ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32688"/>
            <a:ext cx="1115568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 Display"/>
              </a:rPr>
              <a:t>Книга для студентов 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>
                <a:solidFill>
                  <a:srgbClr val="D7E0F5"/>
                </a:solidFill>
                <a:latin typeface="Aptos Display"/>
              </a:rPr>
              <a:t>Один учебник, который стоит держать рядом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880360"/>
            <a:ext cx="3657600" cy="32461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337560"/>
            <a:ext cx="2971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DD52"/>
                </a:solidFill>
                <a:latin typeface="Aptos Display"/>
              </a:rPr>
              <a:t>Artificial
Intelligence:
A Modern
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34924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Stuart Russell
Peter Norvig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2880360"/>
            <a:ext cx="7680960" cy="324612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3246120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40E6FF"/>
                </a:solidFill>
                <a:latin typeface="Aptos Display"/>
              </a:rPr>
              <a:t>Почему именно она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246120"/>
            <a:ext cx="4800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Display"/>
              </a:rPr>
              <a:t>стандартный университетский учебник по 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4114800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DD52"/>
                </a:solidFill>
                <a:latin typeface="Aptos Display"/>
              </a:rPr>
              <a:t>Что внутри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114800"/>
            <a:ext cx="4800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Display"/>
              </a:rPr>
              <a:t>поиск, логика, вероятности, обучение, NLP, роботы, безопасность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4983479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78FFA5"/>
                </a:solidFill>
                <a:latin typeface="Aptos Display"/>
              </a:rPr>
              <a:t>Как читать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983479"/>
            <a:ext cx="4800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Display"/>
              </a:rPr>
              <a:t>не подряд: выбирать главы под задачу и делать конспект схемами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656832"/>
            <a:ext cx="11521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DD52"/>
                </a:solidFill>
                <a:latin typeface="Aptos Display"/>
              </a:rPr>
              <a:t>Факт: сайт AIMA указывает, что книга используется более чем в 1500 учебных заведений.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705916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7E0F5"/>
                </a:solidFill>
                <a:latin typeface="Aptos Display"/>
              </a:rPr>
              <a:t>Источник: aima.cs.berkeley.edu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527280" y="-457200"/>
            <a:ext cx="1920240" cy="192024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38760" y="6126480"/>
            <a:ext cx="1600200" cy="1600200"/>
          </a:xfrm>
          <a:prstGeom prst="ellipse">
            <a:avLst/>
          </a:prstGeom>
          <a:solidFill>
            <a:srgbClr val="FF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0E6FF"/>
                </a:solidFill>
                <a:latin typeface="Aptos Display"/>
              </a:rPr>
              <a:t>КУЛЬТУРА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32688"/>
            <a:ext cx="1115568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 Display"/>
              </a:rPr>
              <a:t>ИИ в кино: как мы его представляли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>
                <a:solidFill>
                  <a:srgbClr val="D7E0F5"/>
                </a:solidFill>
                <a:latin typeface="Aptos Display"/>
              </a:rPr>
              <a:t>Фильмы формировали ожидания: от страха перед машиной до идеи партнёра</a:t>
            </a:r>
          </a:p>
        </p:txBody>
      </p:sp>
      <p:pic>
        <p:nvPicPr>
          <p:cNvPr id="8" name="Picture 7" descr="ai_movies_collage---3b6f2d31-7bb7-455c-a7fa-4c4e0514c3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80360"/>
            <a:ext cx="6400800" cy="3611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2971800"/>
            <a:ext cx="2560320" cy="77724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4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09067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2001: Космическая одиссея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38328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7E0F5"/>
                </a:solidFill>
                <a:latin typeface="Aptos Display"/>
              </a:rPr>
              <a:t>HAL 9000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07040" y="2971800"/>
            <a:ext cx="2560320" cy="77724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309067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Blade Runner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338328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7E0F5"/>
                </a:solidFill>
                <a:latin typeface="Aptos Display"/>
              </a:rPr>
              <a:t>андроиды и идентичность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023360"/>
            <a:ext cx="2560320" cy="77724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78F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14223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Матрица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3484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7E0F5"/>
                </a:solidFill>
                <a:latin typeface="Aptos Display"/>
              </a:rPr>
              <a:t>мир как симуляция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4023360"/>
            <a:ext cx="2560320" cy="77724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44200" y="414223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Her / Она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443484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7E0F5"/>
                </a:solidFill>
                <a:latin typeface="Aptos Display"/>
              </a:rPr>
              <a:t>эмоциональный интерфейс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5074920"/>
            <a:ext cx="2560320" cy="77724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51937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Ex Machina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48640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7E0F5"/>
                </a:solidFill>
                <a:latin typeface="Aptos Display"/>
              </a:rPr>
              <a:t>тест и манипуляция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07040" y="5074920"/>
            <a:ext cx="2560320" cy="777240"/>
          </a:xfrm>
          <a:prstGeom prst="roundRect">
            <a:avLst/>
          </a:prstGeom>
          <a:solidFill>
            <a:srgbClr val="0D142E"/>
          </a:solidFill>
          <a:ln w="25400">
            <a:solidFill>
              <a:srgbClr val="FF5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44200" y="51937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Терминатор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548640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7E0F5"/>
                </a:solidFill>
                <a:latin typeface="Aptos Display"/>
              </a:rPr>
              <a:t>страх автономного 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720840"/>
            <a:ext cx="74980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7E0F5"/>
                </a:solidFill>
                <a:latin typeface="Aptos Display"/>
              </a:rPr>
              <a:t>Изображение сгенерировано: оригинальная иллюстрация без кадров и логотипов фильмов.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030200" y="7388352"/>
            <a:ext cx="1143000" cy="457200"/>
          </a:xfrm>
          <a:prstGeom prst="rect">
            <a:avLst/>
          </a:prstGeom>
          <a:solidFill>
            <a:srgbClr val="07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D7E0F5"/>
                </a:solidFill>
                <a:latin typeface="Aptos Display"/>
              </a:rPr>
              <a:t>15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