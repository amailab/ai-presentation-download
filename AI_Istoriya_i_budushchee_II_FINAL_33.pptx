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6" r:id="rId37"/>
    <p:sldId id="287" r:id="rId38"/>
    <p:sldId id="288" r:id="rId39"/>
    <p:sldId id="285" r:id="rId3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1950 → СЕГОДНЯ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9692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ptos Display"/>
              </a:rPr>
              <a:t>История и будущее
искусственного
интеллекта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0">
                <a:solidFill>
                  <a:srgbClr val="D2DEF6"/>
                </a:solidFill>
                <a:latin typeface="Aptos Display"/>
              </a:rPr>
              <a:t>От теста Тьюринга до ИИ‑агентов, Codex и OpenClaw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таймлайн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люди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статистика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фильмы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5715000"/>
            <a:ext cx="17373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5861304"/>
            <a:ext cx="15910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инструменты</a:t>
            </a:r>
          </a:p>
        </p:txBody>
      </p:sp>
      <p:sp>
        <p:nvSpPr>
          <p:cNvPr id="18" name="Oval 17"/>
          <p:cNvSpPr/>
          <p:nvPr/>
        </p:nvSpPr>
        <p:spPr>
          <a:xfrm>
            <a:off x="10287000" y="1417320"/>
            <a:ext cx="2834640" cy="283464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23317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500" b="1">
                <a:solidFill>
                  <a:srgbClr val="03050C"/>
                </a:solidFill>
                <a:latin typeface="Aptos Display"/>
              </a:rPr>
              <a:t>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01 / 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МАРШРУТ ЗАНЯТИЯ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Что студент должен понять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Не просто “что такое ИИ”, а как он устроен и где применяется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46120"/>
            <a:ext cx="534924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51129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0E5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520439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история: почему ИИ развивался волнами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246120"/>
            <a:ext cx="534924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351129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520439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технологии: данные, модели, вычисления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54879"/>
            <a:ext cx="534924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020055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78FFA6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029199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люди: кто двигает индустрию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754879"/>
            <a:ext cx="534924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5020055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54BE"/>
                </a:solidFill>
                <a:latin typeface="Aptos Display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029199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практика: как использовать ИИ в разработке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ПРОСТАЯ СХЕМА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— это цикл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Данные → обучение → решение → действие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ДАННЫЕ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МОДЕЛЬ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ОБУЧЕНИЕ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РЕШЕНИЕ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4096512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01400" y="3794760"/>
            <a:ext cx="2057400" cy="107899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4133087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ДЕЙСТВИЕ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897880"/>
            <a:ext cx="11704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DD52"/>
                </a:solidFill>
                <a:latin typeface="Aptos Display"/>
              </a:rPr>
              <a:t>Педагогический ключ: всегда спрашивайте — какие данные, какая модель, какой критерий успеха?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КАРТА ВРЕМЕНИ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развивался не по прямой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Идеи появлялись рано, но взлетали только при нужных данных и вычислениях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4343400"/>
            <a:ext cx="11841480" cy="0"/>
          </a:xfrm>
          <a:prstGeom prst="line">
            <a:avLst/>
          </a:prstGeom>
          <a:ln w="381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14400" y="4133087"/>
            <a:ext cx="420624" cy="420624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40E5FF"/>
                </a:solidFill>
                <a:latin typeface="Aptos Display"/>
              </a:rPr>
              <a:t>1950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Тьюринг</a:t>
            </a:r>
          </a:p>
        </p:txBody>
      </p:sp>
      <p:sp>
        <p:nvSpPr>
          <p:cNvPr id="12" name="Oval 11"/>
          <p:cNvSpPr/>
          <p:nvPr/>
        </p:nvSpPr>
        <p:spPr>
          <a:xfrm>
            <a:off x="2971800" y="4133087"/>
            <a:ext cx="420624" cy="420624"/>
          </a:xfrm>
          <a:prstGeom prst="ellipse">
            <a:avLst/>
          </a:prstGeom>
          <a:solidFill>
            <a:srgbClr val="FFD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DD52"/>
                </a:solidFill>
                <a:latin typeface="Aptos Display"/>
              </a:rPr>
              <a:t>1956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термин ИИ</a:t>
            </a:r>
          </a:p>
        </p:txBody>
      </p:sp>
      <p:sp>
        <p:nvSpPr>
          <p:cNvPr id="15" name="Oval 14"/>
          <p:cNvSpPr/>
          <p:nvPr/>
        </p:nvSpPr>
        <p:spPr>
          <a:xfrm>
            <a:off x="4937760" y="4133087"/>
            <a:ext cx="420624" cy="420624"/>
          </a:xfrm>
          <a:prstGeom prst="ellipse">
            <a:avLst/>
          </a:prstGeom>
          <a:solidFill>
            <a:srgbClr val="78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78FFA6"/>
                </a:solidFill>
                <a:latin typeface="Aptos Display"/>
              </a:rPr>
              <a:t>1980-е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правила</a:t>
            </a:r>
          </a:p>
        </p:txBody>
      </p:sp>
      <p:sp>
        <p:nvSpPr>
          <p:cNvPr id="18" name="Oval 17"/>
          <p:cNvSpPr/>
          <p:nvPr/>
        </p:nvSpPr>
        <p:spPr>
          <a:xfrm>
            <a:off x="7086600" y="4133087"/>
            <a:ext cx="420624" cy="420624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54BE"/>
                </a:solidFill>
                <a:latin typeface="Aptos Display"/>
              </a:rPr>
              <a:t>2012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GPU + данные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0" y="4133087"/>
            <a:ext cx="420624" cy="420624"/>
          </a:xfrm>
          <a:prstGeom prst="ellipse">
            <a:avLst/>
          </a:prstGeom>
          <a:solidFill>
            <a:srgbClr val="FFA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A54C"/>
                </a:solidFill>
                <a:latin typeface="Aptos Display"/>
              </a:rPr>
              <a:t>2017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трансформер</a:t>
            </a:r>
          </a:p>
        </p:txBody>
      </p:sp>
      <p:sp>
        <p:nvSpPr>
          <p:cNvPr id="24" name="Oval 23"/>
          <p:cNvSpPr/>
          <p:nvPr/>
        </p:nvSpPr>
        <p:spPr>
          <a:xfrm>
            <a:off x="11612880" y="4133087"/>
            <a:ext cx="420624" cy="420624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20272" y="34747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40E5FF"/>
                </a:solidFill>
                <a:latin typeface="Aptos Display"/>
              </a:rPr>
              <a:t>2020-е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91088" y="47548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агенты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Тьюринг задаёт главный вопрос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«Может ли машина мыслить?»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417320"/>
            <a:ext cx="3383280" cy="4389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1320" y="1874519"/>
            <a:ext cx="1828800" cy="182880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52760" y="25146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3050C"/>
                </a:solidFill>
                <a:latin typeface="Aptos Display"/>
              </a:rPr>
              <a:t>A.M.T.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416052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D2DEF6"/>
                </a:solidFill>
                <a:latin typeface="Aptos Display"/>
              </a:rPr>
              <a:t>Тест Тьюринга — способ обсуждать интеллект через диалог, а не через устройство машины.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DD52"/>
                </a:solidFill>
                <a:latin typeface="Aptos Display"/>
              </a:rPr>
              <a:t>Вопрос важнее ответа: как понять, что система действительно “понимает”?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Рождение термина «ИИ»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Дартмутская конференция дала направлению имя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88920"/>
            <a:ext cx="12115800" cy="2377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24612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DD52"/>
                </a:solidFill>
                <a:latin typeface="Aptos Display"/>
              </a:rPr>
              <a:t>ДАРТМУТСКАЯ КОНФЕРЕНЦИЯ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05072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Учёные впервые формулируют задачу искусственного интеллекта как отдельную область.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11612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D2DEF6"/>
                </a:solidFill>
                <a:latin typeface="Aptos Display"/>
              </a:rPr>
              <a:t>Интересный факт: ожидали быстрый прорыв, но реальность заняла десятилетия.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Первые нейросети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Перцептрон распознавал простые образы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3246120"/>
            <a:ext cx="777240" cy="77724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057400" y="3630168"/>
            <a:ext cx="3977640" cy="923544"/>
          </a:xfrm>
          <a:prstGeom prst="line">
            <a:avLst/>
          </a:prstGeom>
          <a:ln w="3048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34440" y="4251960"/>
            <a:ext cx="777240" cy="77724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2057400" y="4553712"/>
            <a:ext cx="3977640" cy="82296"/>
          </a:xfrm>
          <a:prstGeom prst="line">
            <a:avLst/>
          </a:prstGeom>
          <a:ln w="3048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234440" y="5257800"/>
            <a:ext cx="777240" cy="77724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057400" y="4553712"/>
            <a:ext cx="3977640" cy="1088136"/>
          </a:xfrm>
          <a:prstGeom prst="line">
            <a:avLst/>
          </a:prstGeom>
          <a:ln w="3048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89320" y="3886200"/>
            <a:ext cx="1353312" cy="1353312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233672"/>
            <a:ext cx="731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 Display"/>
              </a:rPr>
              <a:t>Σ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60920" y="4572000"/>
            <a:ext cx="3703320" cy="0"/>
          </a:xfrm>
          <a:prstGeom prst="line">
            <a:avLst/>
          </a:prstGeom>
          <a:ln w="3048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201400" y="4315968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DD52"/>
                </a:solidFill>
                <a:latin typeface="Aptos Display"/>
              </a:rPr>
              <a:t>ВЫХОД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1970–80-Е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Зима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Обещания обогнали возможности железа и алгоритмов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3840480"/>
            <a:ext cx="9875520" cy="6858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0240" y="3840480"/>
            <a:ext cx="3063240" cy="685800"/>
          </a:xfrm>
          <a:prstGeom prst="roundRect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DD52"/>
                </a:solidFill>
                <a:latin typeface="Aptos Display"/>
              </a:rPr>
              <a:t>Урок для студентов: хайп без измеримого результата быстро заканчивается.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1980-Е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Экспертные системы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ИИ как база правил: «если → то»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3703320"/>
            <a:ext cx="306324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4005072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ПРАВИЛА
ЭКСПЕРТА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409651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3703320"/>
            <a:ext cx="306324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4005072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БАЗА
ЗНАНИЙ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409651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3703320"/>
            <a:ext cx="306324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48088" y="4005072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ОТВЕТ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09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1997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Deep Blue побеждает Каспарова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Шахматы стали символом машинной силы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148840"/>
            <a:ext cx="1325880" cy="13258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4040" y="22585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40E5FF"/>
                </a:solidFill>
                <a:latin typeface="Aptos Display"/>
              </a:rPr>
              <a:t>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7080" y="2148840"/>
            <a:ext cx="1325880" cy="13258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0" y="22585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DD52"/>
                </a:solidFill>
                <a:latin typeface="Aptos Display"/>
              </a:rPr>
              <a:t>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3749039"/>
            <a:ext cx="1325880" cy="13258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38587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78FFA6"/>
                </a:solidFill>
                <a:latin typeface="Aptos Display"/>
              </a:rPr>
              <a:t>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27080" y="3749039"/>
            <a:ext cx="1325880" cy="13258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0" y="3858768"/>
            <a:ext cx="1051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54BE"/>
                </a:solidFill>
                <a:latin typeface="Aptos Display"/>
              </a:rPr>
              <a:t>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DD52"/>
                </a:solidFill>
                <a:latin typeface="Aptos Display"/>
              </a:rPr>
              <a:t>Это был не “разум”, а мощный перебор вариантов + оценка позиции.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2012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Глубокое обучение взлетает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Большие данные и видеокарты меняют скорость прогресса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03320"/>
            <a:ext cx="251460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БОЛЬШИЕ
ДАННЫЕ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3703320"/>
            <a:ext cx="251460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GPU /
ВИДЕОКАРТЫ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4656" y="3703320"/>
            <a:ext cx="251460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536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НЕЙРО
СЕТИ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44784" y="3703320"/>
            <a:ext cx="2514600" cy="14173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27663" y="3995928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ОБЛАКО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9893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D2DEF6"/>
                </a:solidFill>
                <a:latin typeface="Aptos Display"/>
              </a:rPr>
              <a:t>Факт: видеокарты из игровой индустрии стали топливом современного ИИ.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СТАТИСТИКА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стал рабочим инструментом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Доля организаций, использующих ИИ, резко выросла за один год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DD52"/>
                </a:solidFill>
                <a:latin typeface="Aptos Display"/>
              </a:rPr>
              <a:t>Доля организаций, использующих 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0215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886200"/>
            <a:ext cx="7772400" cy="566928"/>
          </a:xfrm>
          <a:prstGeom prst="roundRect">
            <a:avLst/>
          </a:prstGeom>
          <a:solidFill>
            <a:srgbClr val="16204A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86200"/>
            <a:ext cx="4274820" cy="566928"/>
          </a:xfrm>
          <a:prstGeom prst="roundRect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6692" y="395935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40E5FF"/>
                </a:solidFill>
                <a:latin typeface="Aptos Display"/>
              </a:rPr>
              <a:t>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9943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983480"/>
            <a:ext cx="7772400" cy="566928"/>
          </a:xfrm>
          <a:prstGeom prst="roundRect">
            <a:avLst/>
          </a:prstGeom>
          <a:solidFill>
            <a:srgbClr val="16204A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4983480"/>
            <a:ext cx="6062472" cy="566928"/>
          </a:xfrm>
          <a:prstGeom prst="roundRect">
            <a:avLst/>
          </a:prstGeom>
          <a:solidFill>
            <a:srgbClr val="78F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24344" y="505663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78FFA6"/>
                </a:solidFill>
                <a:latin typeface="Aptos Display"/>
              </a:rPr>
              <a:t>78%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3291840"/>
            <a:ext cx="3063240" cy="24231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2448" y="3703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FFDD52"/>
                </a:solidFill>
                <a:latin typeface="Aptos Display"/>
              </a:rPr>
              <a:t>+23 п.п.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440740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за год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3609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9EBF"/>
                </a:solidFill>
                <a:latin typeface="Aptos Display"/>
              </a:rPr>
              <a:t>Источник: Stanford AI Index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2016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AlphaGo и интуиция машин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ИИ начал находить решения, которые люди считали “нечеловеческими”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737360"/>
            <a:ext cx="3246120" cy="3246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9669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75520" y="21488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20" y="26060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8813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75520" y="30632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3385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75520" y="35204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7957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0" y="3977639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2252960" y="2057400"/>
            <a:ext cx="0" cy="251460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20" y="4434840"/>
            <a:ext cx="2331720" cy="0"/>
          </a:xfrm>
          <a:prstGeom prst="line">
            <a:avLst/>
          </a:prstGeom>
          <a:ln w="12700">
            <a:solidFill>
              <a:srgbClr val="FFD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0149840" y="2423160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D2D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09960" y="2880360"/>
            <a:ext cx="347472" cy="347472"/>
          </a:xfrm>
          <a:prstGeom prst="ellipse">
            <a:avLst/>
          </a:prstGeom>
          <a:solidFill>
            <a:srgbClr val="03050C"/>
          </a:solidFill>
          <a:ln>
            <a:solidFill>
              <a:srgbClr val="D2D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3749039"/>
            <a:ext cx="347472" cy="347472"/>
          </a:xfrm>
          <a:prstGeom prst="ellipse">
            <a:avLst/>
          </a:prstGeom>
          <a:solidFill>
            <a:srgbClr val="FFFFFF"/>
          </a:solidFill>
          <a:ln>
            <a:solidFill>
              <a:srgbClr val="D2D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61320" y="4160520"/>
            <a:ext cx="347472" cy="347472"/>
          </a:xfrm>
          <a:prstGeom prst="ellipse">
            <a:avLst/>
          </a:prstGeom>
          <a:solidFill>
            <a:srgbClr val="03050C"/>
          </a:solidFill>
          <a:ln>
            <a:solidFill>
              <a:srgbClr val="D2D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8869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DD52"/>
                </a:solidFill>
                <a:latin typeface="Aptos Display"/>
              </a:rPr>
              <a:t>Главный эффект: ИИ перестал просто считать — он начал удивлять стратегией.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Трансформер меняет всё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Механизм внимания сделал модели контекстными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94760"/>
            <a:ext cx="2331720" cy="11430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СЛОВА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4133087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3794760"/>
            <a:ext cx="2331720" cy="11430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ВНИМАНИЕ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133087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8624" y="3794760"/>
            <a:ext cx="2331720" cy="11430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КОНТЕКСТ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5792" y="4133087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60736" y="3794760"/>
            <a:ext cx="2331720" cy="11430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70463" y="4178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ОТВЕТ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97880"/>
            <a:ext cx="11338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D2DEF6"/>
                </a:solidFill>
                <a:latin typeface="Aptos Display"/>
              </a:rPr>
              <a:t>Это фундамент ChatGPT, генерации кода, мультимодальных моделей и агентов.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2020-Е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Генеративный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ИИ перестал только анализировать — он начал создавать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107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ТЕКСТ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306324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34107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КАРТИНКИ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306324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34107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ВИДЕО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7200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1947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ГОЛОС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457200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491947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КОД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4572000"/>
            <a:ext cx="297180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491947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 Display"/>
              </a:rPr>
              <a:t>3D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СТАТИСТИКА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Генеративный ИИ вошёл в компании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Регулярное использование почти удвоилось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337559"/>
            <a:ext cx="1325880" cy="2468880"/>
          </a:xfrm>
          <a:prstGeom prst="roundRect">
            <a:avLst/>
          </a:prstGeom>
          <a:solidFill>
            <a:srgbClr val="16204A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28800" y="4642539"/>
            <a:ext cx="1325880" cy="1163900"/>
          </a:xfrm>
          <a:prstGeom prst="roundRect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231059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40E5FF"/>
                </a:solidFill>
                <a:latin typeface="Aptos Display"/>
              </a:rPr>
              <a:t>33%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971031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2023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337559"/>
            <a:ext cx="1325880" cy="2468880"/>
          </a:xfrm>
          <a:prstGeom prst="roundRect">
            <a:avLst/>
          </a:prstGeom>
          <a:solidFill>
            <a:srgbClr val="16204A"/>
          </a:solidFill>
          <a:ln w="21590">
            <a:solidFill>
              <a:srgbClr val="8F9E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3513908"/>
            <a:ext cx="1325880" cy="2292531"/>
          </a:xfrm>
          <a:prstGeom prst="roundRect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1024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54BE"/>
                </a:solidFill>
                <a:latin typeface="Aptos Display"/>
              </a:rPr>
              <a:t>65%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5971031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2024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246120"/>
            <a:ext cx="5394960" cy="2194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6118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78FFA6"/>
                </a:solidFill>
                <a:latin typeface="Aptos Display"/>
              </a:rPr>
              <a:t>Что это значит для студентов?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16052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 Display"/>
              </a:rPr>
              <a:t>ИИ‑грамотность становится базовым навыком: промпты, проверка фактов, код, данные, автоматизация.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73609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9EBF"/>
                </a:solidFill>
                <a:latin typeface="Aptos Display"/>
              </a:rPr>
              <a:t>Источник: McKinsey Global Survey on AI,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КУЛЬТУРА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в кино: как мы его представляли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Фильмы формировали ожидания: от страха перед машиной до идеи партнёра</a:t>
            </a:r>
          </a:p>
        </p:txBody>
      </p:sp>
      <p:pic>
        <p:nvPicPr>
          <p:cNvPr id="8" name="Picture 7" descr="ai_movies_collage---3b6f2d31-7bb7-455c-a7fa-4c4e0514c3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80360"/>
            <a:ext cx="6400800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297180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0906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2001: Космическая одиссея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8328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HAL 9000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07040" y="297180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30906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Blade Runner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338328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андроиды и идентичность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02336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14223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Матрица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3484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мир как симуляция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402336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4200" y="414223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Her / Она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443484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эмоциональный интерфейс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507492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51937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Ex Machina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48640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тест и манипуляция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07040" y="5074920"/>
            <a:ext cx="256032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44200" y="51937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Терминатор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548640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2DEF6"/>
                </a:solidFill>
                <a:latin typeface="Aptos Display"/>
              </a:rPr>
              <a:t>страх автономного 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3609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9EBF"/>
                </a:solidFill>
                <a:latin typeface="Aptos Display"/>
              </a:rPr>
              <a:t>Иллюстрация сгенерирована: оригинальный образ без кадров и логотипов фильмов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СЕГОДНЯ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ИИ‑агенты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Понятная схема: цель → агент → инструменты → результат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886200"/>
            <a:ext cx="2423160" cy="1234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40E5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ЦЕЛЬ
пользователя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42976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886200"/>
            <a:ext cx="2423160" cy="1234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1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ИИ‑АГЕНТ
модель + память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7" y="42976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886200"/>
            <a:ext cx="2423160" cy="1234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78FFA6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ИНСТРУМЕНТЫ
браузер · файлы · 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42976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0E5FF"/>
                </a:solidFill>
                <a:latin typeface="Aptos Display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78440" y="3886200"/>
            <a:ext cx="2423160" cy="12344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43032" y="41148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54BE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42062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РЕЗУЛЬТАТ
готовое действие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13632" y="5623560"/>
            <a:ext cx="8229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86784" y="576986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контекст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3752" y="5623560"/>
            <a:ext cx="8229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46904" y="576986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план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33872" y="5623560"/>
            <a:ext cx="82296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5769864"/>
            <a:ext cx="6766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проверка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6446520"/>
            <a:ext cx="11612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0">
                <a:solidFill>
                  <a:srgbClr val="D2DEF6"/>
                </a:solidFill>
                <a:latin typeface="Aptos Display"/>
              </a:rPr>
              <a:t>Смысл: агент не просто отвечает текстом — он берёт задачу, выбирает инструмент и доводит до результата.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ВАУ‑ФАКТЫ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5 фактов, которые цепляют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40E5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Термин «ИИ» появился в 1956 году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Первые нейросети старше интернета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78FFA6"/>
                </a:solidFill>
                <a:latin typeface="Aptos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Видеокарты из игр ускорили 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1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54BE"/>
                </a:solidFill>
                <a:latin typeface="Aptos Display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ChatGPT сделал ИИ массовым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41480" y="2880360"/>
            <a:ext cx="2423160" cy="25146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6072" y="31546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A54C"/>
                </a:solidFill>
                <a:latin typeface="Aptos Display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0" y="3977639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Следующий шаг — агенты и роботы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ПРОМЕЖУТОЧНЫЙ ВЫВОД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ИИ стал инструментом мышления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Сначала машины считали. Потом распознавали. Теперь — создают и действуют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идея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0791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правила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данные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генерация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60" y="5303520"/>
            <a:ext cx="16002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97312" y="5449824"/>
            <a:ext cx="14538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агенты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ЛЮДИ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Кто двигает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За технологиями стоят конкретные учёные, инженеры и предприниматели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9204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03834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учёные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489204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503834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создатели моделей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68896" y="489204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42048" y="503834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продуктовые лидеры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96144" y="489204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69296" y="503834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инфраструктура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ОСНОВАТЕЛИ ГЛУБОКОГО ОБУЧЕНИЯ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Люди, которые заложили фундамент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Ключевые фигуры нейросетей и машинного обучения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in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264408"/>
            <a:ext cx="932688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56816" y="322783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Geoffrey Hinton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366674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нейросети, обратное распространение ошибки, Нобель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97180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ec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3264408"/>
            <a:ext cx="932688" cy="9326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85816" y="322783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Yann LeCun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5816" y="366674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свёрточные сети, компьютерное зрение, Meta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97180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eng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2" y="3264408"/>
            <a:ext cx="932688" cy="932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14816" y="322783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Yoshua Bengio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4816" y="366674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глубокое обучение, этика и безопасность 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18520" y="297180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opf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264408"/>
            <a:ext cx="932688" cy="9326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243816" y="322783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John Hopfield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43816" y="366674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сети Хопфилда, Нобель по физике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989320"/>
            <a:ext cx="1188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DD52"/>
                </a:solidFill>
                <a:latin typeface="Aptos Display"/>
              </a:rPr>
              <a:t>Факт: в 2024 Хинтон и Хопфилд получили Нобелевскую премию по физике за основы машинного обучения.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СОВРЕМЕННЫЕ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Илья Суцкевер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Один из ключевых исследователей эпохи GPT</a:t>
            </a:r>
          </a:p>
        </p:txBody>
      </p:sp>
      <p:pic>
        <p:nvPicPr>
          <p:cNvPr id="8" name="Picture 7" descr="sutske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08760"/>
            <a:ext cx="2606040" cy="2606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3063240"/>
            <a:ext cx="5029200" cy="5486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18688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глубокое обучение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67912"/>
            <a:ext cx="5029200" cy="5486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023360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seq2seq: работа с последовательностями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72584"/>
            <a:ext cx="5029200" cy="5486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828032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OpenAI / GPT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477256"/>
            <a:ext cx="5029200" cy="5486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632704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Display"/>
              </a:rPr>
              <a:t>безопасность 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572000"/>
            <a:ext cx="571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0">
                <a:solidFill>
                  <a:srgbClr val="D2DEF6"/>
                </a:solidFill>
                <a:latin typeface="Aptos Display"/>
              </a:rPr>
              <a:t>Главная мысль: современные чат‑модели появились благодаря исследователям, которые научили нейросети работать с языком, контекстом и рассуждением.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СОЗДАТЕЛИ ПРОДУКТОВ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Кто сделал ИИ массовым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От лабораторий — к миллионам пользователей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83464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lt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127248"/>
            <a:ext cx="932688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39696" y="309067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Sam Altman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352958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OpenAI, ChatGPT как массовый продукт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83464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assab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3127248"/>
            <a:ext cx="932688" cy="9326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68696" y="309067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Demis Hassabis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352958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DeepMind, AlphaGo, научный 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eif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127248"/>
            <a:ext cx="932688" cy="932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97696" y="309067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Fei‑Fei 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352958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ImageNet, компьютерное зрение, человекоцентричный 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01400" y="283464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5992" y="3127248"/>
            <a:ext cx="932688" cy="9326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426696" y="3090672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Andrew 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26696" y="352958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образование, прикладное машинное обучение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97880"/>
            <a:ext cx="11612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DD52"/>
                </a:solidFill>
                <a:latin typeface="Aptos Display"/>
              </a:rPr>
              <a:t>ИИ стал массовым из‑за сочетания науки, продуктов, данных и образования.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ИНФРАСТРУКТУРА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Люди за вычислениями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Без чипов, облаков и безопасных моделей не было бы ИИ‑бума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88036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u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3172968"/>
            <a:ext cx="932688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31136" y="3136391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Jensen Huang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1136" y="357530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NVIDIA, GPU‑инфраструктура для 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88036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adel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3172968"/>
            <a:ext cx="932688" cy="9326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05856" y="3136391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Satya Nadella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5856" y="357530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Microsoft, облако и Copilot‑экосистема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880360"/>
            <a:ext cx="3127248" cy="1975104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mode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1" y="3172968"/>
            <a:ext cx="932688" cy="9326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80576" y="3136391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Dario Amodei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3575304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2DEF6"/>
                </a:solidFill>
                <a:latin typeface="Aptos Display"/>
              </a:rPr>
              <a:t>Anthropic, Claude и безопасные модели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84280" y="2880360"/>
            <a:ext cx="2148840" cy="201168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31168" y="331012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54BE"/>
                </a:solidFill>
                <a:latin typeface="Aptos Display"/>
              </a:rPr>
              <a:t>ФОРМУЛА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0" y="3767328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модели
+ данные
+ GPU
+ продукт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ИНСТРУМЕНТЫ РАЗРАБОТЧИКА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Codex, OpenCode и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ИИ становится напарником программиста: читает проект, пишет код, запускает проверки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154680"/>
            <a:ext cx="3977639" cy="20574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456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40E5FF"/>
                </a:solidFill>
                <a:latin typeface="Aptos Display"/>
              </a:rPr>
              <a:t>Codex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977639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OpenAI / 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440740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D2DEF6"/>
                </a:solidFill>
                <a:latin typeface="Aptos Display"/>
              </a:rPr>
              <a:t>агент для задач с кодом, терминалом и репозиторием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3154680"/>
            <a:ext cx="3977639" cy="20574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05272" y="3456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DD52"/>
                </a:solidFill>
                <a:latin typeface="Aptos Display"/>
              </a:rPr>
              <a:t>OpenCode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3977639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открытый подход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712" y="440740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D2DEF6"/>
                </a:solidFill>
                <a:latin typeface="Aptos Display"/>
              </a:rPr>
              <a:t>командная строка и агент для разработки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3154680"/>
            <a:ext cx="3977639" cy="20574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77272" y="3456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78FFA6"/>
                </a:solidFill>
                <a:latin typeface="Aptos Display"/>
              </a:rPr>
              <a:t>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68712" y="3977639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Anthropic 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8712" y="4407408"/>
            <a:ext cx="3246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D2DEF6"/>
                </a:solidFill>
                <a:latin typeface="Aptos Display"/>
              </a:rPr>
              <a:t>помощник для анализа, рефакторинга и архитектуры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5989320"/>
            <a:ext cx="22402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33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контекст проекта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5989320"/>
            <a:ext cx="22402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генерация кода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5989320"/>
            <a:ext cx="22402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969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тесты и правки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5989320"/>
            <a:ext cx="22402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8712" y="6135624"/>
            <a:ext cx="2093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pull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720840"/>
            <a:ext cx="12070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FDD52"/>
                </a:solidFill>
                <a:latin typeface="Aptos Display"/>
              </a:rPr>
              <a:t>Полезно студентам: учитесь не “просить код”, а ставить задачу, проверять результат и понимать архитектуру.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АРХИТЕКТУРА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OpenClaw: как устроен ИИ‑агент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Локальный Gateway связывает мессенджеры, модели, инструменты и память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2423160" cy="10058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877056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
WhatsApp
веб‑интерфейс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3337560"/>
            <a:ext cx="2560320" cy="1645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3557015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Gateway
маршрутизация
сессии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337560"/>
            <a:ext cx="2606040" cy="1645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3557015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Среда агента
Codex / Claude
модель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9880" y="3337560"/>
            <a:ext cx="2788920" cy="1645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3557015"/>
            <a:ext cx="2514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Инструменты
файлы · web
GitHub · shell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4160520"/>
            <a:ext cx="685800" cy="0"/>
          </a:xfrm>
          <a:prstGeom prst="line">
            <a:avLst/>
          </a:prstGeom>
          <a:ln w="3810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63640" y="4160520"/>
            <a:ext cx="822960" cy="0"/>
          </a:xfrm>
          <a:prstGeom prst="line">
            <a:avLst/>
          </a:prstGeom>
          <a:ln w="3810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92640" y="4160520"/>
            <a:ext cx="777240" cy="0"/>
          </a:xfrm>
          <a:prstGeom prst="line">
            <a:avLst/>
          </a:prstGeom>
          <a:ln w="38100">
            <a:solidFill>
              <a:srgbClr val="4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5840" y="598932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навыки = инструкции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598932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3367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плагины = расширения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598932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память = контекст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69880" y="5989320"/>
            <a:ext cx="246888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3032" y="613562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подтверждения = безопасность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720840"/>
            <a:ext cx="12344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0">
                <a:solidFill>
                  <a:srgbClr val="D2DEF6"/>
                </a:solidFill>
                <a:latin typeface="Aptos Display"/>
              </a:rPr>
              <a:t>Ключевая идея: OpenClaw — слой управления агентами: каналы → Gateway → среда агента → инструменты → ответ.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ПРАКТИКА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Как студенту работать с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Мини‑алгоритм безопасной и полезной работы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53035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32841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0E5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6440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Сформулируй цель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65760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2DEF6"/>
                </a:solidFill>
                <a:latin typeface="Aptos Display"/>
              </a:rPr>
              <a:t>что должно получиться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063240"/>
            <a:ext cx="53035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332841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26440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Дай контекст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65760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2DEF6"/>
                </a:solidFill>
                <a:latin typeface="Aptos Display"/>
              </a:rPr>
              <a:t>файлы, ограничения, критерии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53035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83717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78FFA6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77316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Проверь результат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16636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2DEF6"/>
                </a:solidFill>
                <a:latin typeface="Aptos Display"/>
              </a:rPr>
              <a:t>тесты, источники, логика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572000"/>
            <a:ext cx="53035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4837176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54BE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77316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Улучши итерацией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516636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2DEF6"/>
                </a:solidFill>
                <a:latin typeface="Aptos Display"/>
              </a:rPr>
              <a:t>правки → проверка → финал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ЧТО ЧИТАТЬ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Книга для студентов 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Один учебник, который стоит держать рядом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880360"/>
            <a:ext cx="3657600" cy="3246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337560"/>
            <a:ext cx="2971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DD52"/>
                </a:solidFill>
                <a:latin typeface="Aptos Display"/>
              </a:rPr>
              <a:t>Artificial
Intelligence:
A Modern
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34924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Stuart Russell
Peter Norvig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880360"/>
            <a:ext cx="7680960" cy="32461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3246120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40E5FF"/>
                </a:solidFill>
                <a:latin typeface="Aptos Display"/>
              </a:rPr>
              <a:t>Почему именно она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246120"/>
            <a:ext cx="4800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стандартный университетский учебник по 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4114800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DD52"/>
                </a:solidFill>
                <a:latin typeface="Aptos Display"/>
              </a:rPr>
              <a:t>Что внутри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114800"/>
            <a:ext cx="4800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поиск, логика, вероятности, обучение, NLP, роботы, безопасность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4983479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78FFA6"/>
                </a:solidFill>
                <a:latin typeface="Aptos Display"/>
              </a:rPr>
              <a:t>Как читать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983479"/>
            <a:ext cx="4800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 Display"/>
              </a:rPr>
              <a:t>не подряд: выбирать главы под задачу и делать конспект схемами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656832"/>
            <a:ext cx="11521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DD52"/>
                </a:solidFill>
                <a:latin typeface="Aptos Display"/>
              </a:rPr>
              <a:t>Факт: AIMA используется более чем в 1500 учебных заведений.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73609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8F9EBF"/>
                </a:solidFill>
                <a:latin typeface="Aptos Display"/>
              </a:rPr>
              <a:t>Источник: aima.cs.berkeley.edu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ФИНАЛ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24128"/>
            <a:ext cx="11704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ИИ развивается
через людей, данные
и инструменты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20624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D2DEF6"/>
                </a:solidFill>
                <a:latin typeface="Aptos Display"/>
              </a:rPr>
              <a:t>Главный навык будущего — не знать все модели, а уметь ставить задачу, проверять результат и собирать систему из инструментов.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989320"/>
            <a:ext cx="20574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01952" y="6135624"/>
            <a:ext cx="19110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понимать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5989320"/>
            <a:ext cx="20574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6135624"/>
            <a:ext cx="19110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проверять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5989320"/>
            <a:ext cx="20574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8352" y="6135624"/>
            <a:ext cx="19110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создавать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5989320"/>
            <a:ext cx="2057400" cy="50292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31552" y="6135624"/>
            <a:ext cx="191109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автоматизировать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33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КРИТИЧЕСКОЕ МЫШЛЕНИЕ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Мифы и реальность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Самый важный навык — не верить ИИ слепо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539496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12724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5F78"/>
                </a:solidFill>
                <a:latin typeface="Aptos Display"/>
              </a:rPr>
              <a:t>МИФ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145536"/>
            <a:ext cx="3886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ИИ всё знает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971800"/>
            <a:ext cx="617220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1272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78FFA6"/>
                </a:solidFill>
                <a:latin typeface="Aptos Display"/>
              </a:rPr>
              <a:t>РЕАЛЬНОСТЬ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14553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ИИ может уверенно ошибаться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539496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7024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5F78"/>
                </a:solidFill>
                <a:latin typeface="Aptos Display"/>
              </a:rPr>
              <a:t>МИФ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288536"/>
            <a:ext cx="3886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ИИ заменит программиста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4114800"/>
            <a:ext cx="617220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42702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78FFA6"/>
                </a:solidFill>
                <a:latin typeface="Aptos Display"/>
              </a:rPr>
              <a:t>РЕАЛЬНОСТЬ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28853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заменит рутину, но усилит тех, кто умеет проверять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257800"/>
            <a:ext cx="539496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41324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5F78"/>
                </a:solidFill>
                <a:latin typeface="Aptos Display"/>
              </a:rPr>
              <a:t>МИФ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431536"/>
            <a:ext cx="3886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достаточно написать один промт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5257800"/>
            <a:ext cx="6172200" cy="77724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541324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78FFA6"/>
                </a:solidFill>
                <a:latin typeface="Aptos Display"/>
              </a:rPr>
              <a:t>РЕАЛЬНОСТЬ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543153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хороший результат рождается через итерации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6583680"/>
            <a:ext cx="1170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DD52"/>
                </a:solidFill>
                <a:latin typeface="Aptos Display"/>
              </a:rPr>
              <a:t>Правило занятия: любой ответ ИИ проверяем фактами, логикой и тестами.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30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ДЛЯ СТУДЕНТА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Где ИИ полезен уже сейчас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Не вместо обучения, а как ускоритель практики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32461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7296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40E5FF"/>
                </a:solidFill>
                <a:latin typeface="Aptos Display"/>
              </a:rPr>
              <a:t>КОД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3872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 Display"/>
              </a:rPr>
              <a:t>объяснить ошибку, написать тест, предложить архитектуру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2971800"/>
            <a:ext cx="32461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317296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DD52"/>
                </a:solidFill>
                <a:latin typeface="Aptos Display"/>
              </a:rPr>
              <a:t>УЧЁБА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53872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 Display"/>
              </a:rPr>
              <a:t>сделать конспект, вопросы для самопроверки, план доклада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971800"/>
            <a:ext cx="32461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317296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78FFA6"/>
                </a:solidFill>
                <a:latin typeface="Aptos Display"/>
              </a:rPr>
              <a:t>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353872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 Display"/>
              </a:rPr>
              <a:t>очистить таблицу, построить график, найти закономерность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480560"/>
            <a:ext cx="32461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68172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54BE"/>
                </a:solidFill>
                <a:latin typeface="Aptos Display"/>
              </a:rPr>
              <a:t>ДИЗАЙН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4748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 Display"/>
              </a:rPr>
              <a:t>идея интерфейса, раскадровка, промт для изображения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4480560"/>
            <a:ext cx="32461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A5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468172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A54C"/>
                </a:solidFill>
                <a:latin typeface="Aptos Display"/>
              </a:rPr>
              <a:t>ПРОЕКТЫ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504748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 Display"/>
              </a:rPr>
              <a:t>ТЗ, roadmap, чек‑лист запуска, риски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4480560"/>
            <a:ext cx="3246120" cy="105156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468172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40E5FF"/>
                </a:solidFill>
                <a:latin typeface="Aptos Display"/>
              </a:rPr>
              <a:t>КОММУНИКАЦИЯ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5047488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 Display"/>
              </a:rPr>
              <a:t>письмо, презентация, структура выступления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446520"/>
            <a:ext cx="11521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DD52"/>
                </a:solidFill>
                <a:latin typeface="Aptos Display"/>
              </a:rPr>
              <a:t>Важно: ИИ ускоряет мышление, но ответственность за результат остаётся у человека.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31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2618720" y="-594360"/>
            <a:ext cx="2011680" cy="201168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030200" y="6172200"/>
            <a:ext cx="1600200" cy="1600200"/>
          </a:xfrm>
          <a:prstGeom prst="ellipse">
            <a:avLst/>
          </a:prstGeom>
          <a:solidFill>
            <a:srgbClr val="FF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6720840"/>
            <a:ext cx="1051560" cy="1051560"/>
          </a:xfrm>
          <a:prstGeom prst="ellipse">
            <a:avLst/>
          </a:prstGeom>
          <a:solidFill>
            <a:srgbClr val="4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0E5FF"/>
                </a:solidFill>
                <a:latin typeface="Aptos Display"/>
              </a:rPr>
              <a:t>ПРАКТИКУМ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11338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 Display"/>
              </a:rPr>
              <a:t>Задание на 10 минут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0">
                <a:solidFill>
                  <a:srgbClr val="D2DEF6"/>
                </a:solidFill>
                <a:latin typeface="Aptos Display"/>
              </a:rPr>
              <a:t>Мини‑упражнение, чтобы студенты сразу попробовали ИИ как инструмент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5349240" cy="98755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4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2004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40E5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7" y="315468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Выбери задачу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3538728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2DEF6"/>
                </a:solidFill>
                <a:latin typeface="Aptos Display"/>
              </a:rPr>
              <a:t>например: лендинг, бот, исследование, презентация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971800"/>
            <a:ext cx="5349240" cy="98755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51775" y="32004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DD52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315468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Собери промт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3538728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2DEF6"/>
                </a:solidFill>
                <a:latin typeface="Aptos Display"/>
              </a:rPr>
              <a:t>контекст + цель + ограничения + критерии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34840"/>
            <a:ext cx="5349240" cy="98755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78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66344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78FFA6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7" y="461772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Получи ответ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7" y="5001768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2DEF6"/>
                </a:solidFill>
                <a:latin typeface="Aptos Display"/>
              </a:rPr>
              <a:t>не копируй сразу — сначала проверь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434840"/>
            <a:ext cx="5349240" cy="987552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5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1775" y="466344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54BE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461772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Улучши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5001768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2DEF6"/>
                </a:solidFill>
                <a:latin typeface="Aptos Display"/>
              </a:rPr>
              <a:t>задай уточнение и попроси альтернативу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6126480"/>
            <a:ext cx="10789920" cy="685800"/>
          </a:xfrm>
          <a:prstGeom prst="roundRect">
            <a:avLst/>
          </a:prstGeom>
          <a:solidFill>
            <a:srgbClr val="101838"/>
          </a:solidFill>
          <a:ln w="21590">
            <a:solidFill>
              <a:srgbClr val="FFD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6336792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FFDD52"/>
                </a:solidFill>
                <a:latin typeface="Aptos Display"/>
              </a:rPr>
              <a:t>Финальный вопрос: что изменилось после второй итерации?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13080" y="7516368"/>
            <a:ext cx="822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8F9EBF"/>
                </a:solidFill>
                <a:latin typeface="Aptos Display"/>
              </a:rPr>
              <a:t>32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