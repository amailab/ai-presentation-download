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1950 → 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9692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ptos Display"/>
              </a:rPr>
              <a:t>История и будущее
искусственного
интеллекта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0">
                <a:solidFill>
                  <a:srgbClr val="D2DEF6"/>
                </a:solidFill>
                <a:latin typeface="Aptos Display"/>
              </a:rPr>
              <a:t>От теста Тьюринга до ИИ‑агентов, Codex и OpenClaw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таймлайн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люди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статистика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фильмы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инструменты</a:t>
            </a:r>
          </a:p>
        </p:txBody>
      </p:sp>
      <p:sp>
        <p:nvSpPr>
          <p:cNvPr id="18" name="Oval 17"/>
          <p:cNvSpPr/>
          <p:nvPr/>
        </p:nvSpPr>
        <p:spPr>
          <a:xfrm>
            <a:off x="10287000" y="1417320"/>
            <a:ext cx="2834640" cy="28346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23317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500" b="1">
                <a:solidFill>
                  <a:srgbClr val="03050C"/>
                </a:solidFill>
                <a:latin typeface="Aptos Display"/>
              </a:rPr>
              <a:t>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МАРШРУТ ЗАНЯТИЯ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Что студент должен понять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Не просто “что такое ИИ”, а как он устроен и где применяется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46120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51129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52043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история: почему ИИ развивался волнами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246120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351129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52043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технологии: данные, модели, вычисления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79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020055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2919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люди: кто двигает индустрию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754879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5020055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2919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практика: как использовать ИИ в разработке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ПРОСТАЯ СХЕМА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— это цикл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Данные → обучение → решение → действие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МОДЕЛЬ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ОБУЧЕНИЕ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РЕШЕНИЕ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0140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ДЕЙСТВИЕ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897880"/>
            <a:ext cx="11704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DD52"/>
                </a:solidFill>
                <a:latin typeface="Aptos Display"/>
              </a:rPr>
              <a:t>Педагогический ключ: всегда спрашивайте — какие данные, какая модель, какой критерий успеха?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КАРТА ВРЕМЕНИ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развивался не по прямой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Идеи появлялись рано, но взлетали только при нужных данных и вычислениях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4343400"/>
            <a:ext cx="11841480" cy="0"/>
          </a:xfrm>
          <a:prstGeom prst="line">
            <a:avLst/>
          </a:prstGeom>
          <a:ln w="381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14400" y="4133087"/>
            <a:ext cx="420624" cy="420624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40E5FF"/>
                </a:solidFill>
                <a:latin typeface="Aptos Display"/>
              </a:rPr>
              <a:t>1950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Тьюринг</a:t>
            </a:r>
          </a:p>
        </p:txBody>
      </p:sp>
      <p:sp>
        <p:nvSpPr>
          <p:cNvPr id="12" name="Oval 11"/>
          <p:cNvSpPr/>
          <p:nvPr/>
        </p:nvSpPr>
        <p:spPr>
          <a:xfrm>
            <a:off x="2971800" y="4133087"/>
            <a:ext cx="420624" cy="420624"/>
          </a:xfrm>
          <a:prstGeom prst="ellipse">
            <a:avLst/>
          </a:prstGeom>
          <a:solidFill>
            <a:srgbClr val="FFD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DD52"/>
                </a:solidFill>
                <a:latin typeface="Aptos Display"/>
              </a:rPr>
              <a:t>1956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термин ИИ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0" y="4133087"/>
            <a:ext cx="420624" cy="420624"/>
          </a:xfrm>
          <a:prstGeom prst="ellipse">
            <a:avLst/>
          </a:prstGeom>
          <a:solidFill>
            <a:srgbClr val="78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78FFA6"/>
                </a:solidFill>
                <a:latin typeface="Aptos Display"/>
              </a:rPr>
              <a:t>1980-е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правила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0" y="4133087"/>
            <a:ext cx="420624" cy="420624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54BE"/>
                </a:solidFill>
                <a:latin typeface="Aptos Display"/>
              </a:rPr>
              <a:t>2012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GPU + данные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0" y="4133087"/>
            <a:ext cx="420624" cy="420624"/>
          </a:xfrm>
          <a:prstGeom prst="ellipse">
            <a:avLst/>
          </a:prstGeom>
          <a:solidFill>
            <a:srgbClr val="FFA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A54C"/>
                </a:solidFill>
                <a:latin typeface="Aptos Display"/>
              </a:rPr>
              <a:t>2017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трансформер</a:t>
            </a:r>
          </a:p>
        </p:txBody>
      </p:sp>
      <p:sp>
        <p:nvSpPr>
          <p:cNvPr id="24" name="Oval 23"/>
          <p:cNvSpPr/>
          <p:nvPr/>
        </p:nvSpPr>
        <p:spPr>
          <a:xfrm>
            <a:off x="11612880" y="4133087"/>
            <a:ext cx="420624" cy="420624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2027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40E5FF"/>
                </a:solidFill>
                <a:latin typeface="Aptos Display"/>
              </a:rPr>
              <a:t>2020-е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9108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агенты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Тьюринг задаёт главный вопрос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«Может ли машина мыслить?»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417320"/>
            <a:ext cx="3383280" cy="4389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20" y="1874519"/>
            <a:ext cx="1828800" cy="182880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52760" y="25146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3050C"/>
                </a:solidFill>
                <a:latin typeface="Aptos Display"/>
              </a:rPr>
              <a:t>A.M.T.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416052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D2DEF6"/>
                </a:solidFill>
                <a:latin typeface="Aptos Display"/>
              </a:rPr>
              <a:t>Тест Тьюринга — способ обсуждать интеллект через диалог, а не через устройство машины.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D52"/>
                </a:solidFill>
                <a:latin typeface="Aptos Display"/>
              </a:rPr>
              <a:t>Вопрос важнее ответа: как понять, что система действительно “понимает”?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Рождение термина «ИИ»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Дартмутская конференция дала направлению имя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88920"/>
            <a:ext cx="12115800" cy="2377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24612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DD52"/>
                </a:solidFill>
                <a:latin typeface="Aptos Display"/>
              </a:rPr>
              <a:t>ДАРТМУТСКАЯ КОНФЕРЕНЦИЯ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05072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Учёные впервые формулируют задачу искусственного интеллекта как отдельную область.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D2DEF6"/>
                </a:solidFill>
                <a:latin typeface="Aptos Display"/>
              </a:rPr>
              <a:t>Интересный факт: ожидали быстрый прорыв, но реальность заняла десятилетия.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Первые нейросети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Перцептрон распознавал простые образы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3246120"/>
            <a:ext cx="777240" cy="7772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057400" y="3630168"/>
            <a:ext cx="3977640" cy="923544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34440" y="4251960"/>
            <a:ext cx="777240" cy="7772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2057400" y="4553712"/>
            <a:ext cx="3977640" cy="82296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234440" y="5257800"/>
            <a:ext cx="777240" cy="7772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057400" y="4553712"/>
            <a:ext cx="3977640" cy="1088136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89320" y="3886200"/>
            <a:ext cx="1353312" cy="1353312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23367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 Display"/>
              </a:rPr>
              <a:t>Σ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20" y="4572000"/>
            <a:ext cx="3703320" cy="0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201400" y="431596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D52"/>
                </a:solidFill>
                <a:latin typeface="Aptos Display"/>
              </a:rPr>
              <a:t>ВЫХОД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1970–80-Е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Зима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Обещания обогнали возможности железа и алгоритмов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840480"/>
            <a:ext cx="9875520" cy="6858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3840480"/>
            <a:ext cx="3063240" cy="685800"/>
          </a:xfrm>
          <a:prstGeom prst="roundRect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DD52"/>
                </a:solidFill>
                <a:latin typeface="Aptos Display"/>
              </a:rPr>
              <a:t>Урок для студентов: хайп без измеримого результата быстро заканчивается.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1980-Е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Экспертные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как база правил: «если → то»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703320"/>
            <a:ext cx="306324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ПРАВИЛА
ЭКСПЕРТА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409651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703320"/>
            <a:ext cx="306324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БАЗА
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409651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703320"/>
            <a:ext cx="306324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4808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ОТВЕТ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Deep Blue побеждает Каспарова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Шахматы стали символом машинной силы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148840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22585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40E5FF"/>
                </a:solidFill>
                <a:latin typeface="Aptos Display"/>
              </a:rPr>
              <a:t>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2148840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0" y="22585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DD52"/>
                </a:solidFill>
                <a:latin typeface="Aptos Display"/>
              </a:rPr>
              <a:t>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3749039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38587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78FFA6"/>
                </a:solidFill>
                <a:latin typeface="Aptos Display"/>
              </a:rPr>
              <a:t>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7080" y="3749039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0" y="38587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54BE"/>
                </a:solidFill>
                <a:latin typeface="Aptos Display"/>
              </a:rPr>
              <a:t>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DD52"/>
                </a:solidFill>
                <a:latin typeface="Aptos Display"/>
              </a:rPr>
              <a:t>Это был не “разум”, а мощный перебор вариантов + оценка позиции.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Глубокое обучение взлетает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Большие данные и видеокарты меняют скорость прогресса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БОЛЬШИЕ
ДАННЫЕ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GPU /
ВИДЕОКАРТЫ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4656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НЕЙРО
СЕТИ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44784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27663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ОБЛАКО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989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D2DEF6"/>
                </a:solidFill>
                <a:latin typeface="Aptos Display"/>
              </a:rPr>
              <a:t>Факт: видеокарты из игровой индустрии стали топливом современного ИИ.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стал рабочим инструментом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Доля организаций, использующих ИИ, резко выросла за один год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DD52"/>
                </a:solidFill>
                <a:latin typeface="Aptos Display"/>
              </a:rPr>
              <a:t>Доля организаций, использующих 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0215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886200"/>
            <a:ext cx="7772400" cy="566928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86200"/>
            <a:ext cx="4274820" cy="566928"/>
          </a:xfrm>
          <a:prstGeom prst="roundRect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6692" y="395935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0E5FF"/>
                </a:solidFill>
                <a:latin typeface="Aptos Display"/>
              </a:rPr>
              <a:t>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994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983480"/>
            <a:ext cx="7772400" cy="566928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4983480"/>
            <a:ext cx="6062472" cy="566928"/>
          </a:xfrm>
          <a:prstGeom prst="roundRect">
            <a:avLst/>
          </a:prstGeom>
          <a:solidFill>
            <a:srgbClr val="78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505663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78FFA6"/>
                </a:solidFill>
                <a:latin typeface="Aptos Display"/>
              </a:rPr>
              <a:t>78%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3291840"/>
            <a:ext cx="3063240" cy="24231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8" y="3703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DD52"/>
                </a:solidFill>
                <a:latin typeface="Aptos Display"/>
              </a:rPr>
              <a:t>+23 п.п.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44074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за год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Источник: Stanford AI Index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AlphaGo и интуиция машин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начал находить решения, которые люди считали “нечеловеческими”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737360"/>
            <a:ext cx="3246120" cy="3246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9669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75520" y="21488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20" y="26060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813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75520" y="30632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3385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75520" y="35204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7957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3977639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2529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20" y="44348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149840" y="2423160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09960" y="2880360"/>
            <a:ext cx="347472" cy="347472"/>
          </a:xfrm>
          <a:prstGeom prst="ellipse">
            <a:avLst/>
          </a:prstGeom>
          <a:solidFill>
            <a:srgbClr val="03050C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3749039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61320" y="4160520"/>
            <a:ext cx="347472" cy="347472"/>
          </a:xfrm>
          <a:prstGeom prst="ellipse">
            <a:avLst/>
          </a:prstGeom>
          <a:solidFill>
            <a:srgbClr val="03050C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8869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DD52"/>
                </a:solidFill>
                <a:latin typeface="Aptos Display"/>
              </a:rPr>
              <a:t>Главный эффект: ИИ перестал просто считать — он начал удивлять стратегией.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Трансформер меняет всё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Механизм внимания сделал модели контекстными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СЛОВА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ВНИМАНИЕ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КОНТЕКСТ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5792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0736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0463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ОТВЕТ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97880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D2DEF6"/>
                </a:solidFill>
                <a:latin typeface="Aptos Display"/>
              </a:rPr>
              <a:t>Это фундамент ChatGPT, генерации кода, мультимодальных моделей и агентов.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2020-Е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Генеративный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перестал только анализировать — он начал создавать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ТЕКСТ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306324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КАРТИНКИ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306324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ВИДЕО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7200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ГОЛОС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457200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КОД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457200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3D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Генеративный ИИ вошёл в компании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Регулярное использование почти удвоилось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337559"/>
            <a:ext cx="1325880" cy="2468880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4642539"/>
            <a:ext cx="1325880" cy="1163900"/>
          </a:xfrm>
          <a:prstGeom prst="roundRect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23105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0E5FF"/>
                </a:solidFill>
                <a:latin typeface="Aptos Display"/>
              </a:rPr>
              <a:t>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971031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337559"/>
            <a:ext cx="1325880" cy="2468880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3513908"/>
            <a:ext cx="1325880" cy="2292531"/>
          </a:xfrm>
          <a:prstGeom prst="roundRect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1024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54BE"/>
                </a:solidFill>
                <a:latin typeface="Aptos Display"/>
              </a:rPr>
              <a:t>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5971031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2024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246120"/>
            <a:ext cx="5394960" cy="2194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6118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78FFA6"/>
                </a:solidFill>
                <a:latin typeface="Aptos Display"/>
              </a:rPr>
              <a:t>Что это значит для студентов?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16052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 Display"/>
              </a:rPr>
              <a:t>ИИ‑грамотность становится базовым навыком: промпты, проверка фактов, код, данные, автоматизация.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Источник: McKinsey Global Survey on AI,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КУЛЬТУРА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в кино: как мы его представляли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Фильмы формировали ожидания: от страха перед машиной до идеи партнёра</a:t>
            </a:r>
          </a:p>
        </p:txBody>
      </p:sp>
      <p:pic>
        <p:nvPicPr>
          <p:cNvPr id="8" name="Picture 7" descr="ai_movies_collage---3b6f2d31-7bb7-455c-a7fa-4c4e0514c3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80360"/>
            <a:ext cx="640080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297180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0906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2001: Космическая одиссея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8328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HAL 9000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0" y="297180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30906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Blade Runner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338328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андроиды и идентичность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02336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1422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Матрица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3484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мир как симуляция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402336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4200" y="41422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Her / Она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443484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эмоциональный интерфейс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507492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51937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Ex Machina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48640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тест и манипуляция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7040" y="507492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44200" y="51937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Терминатор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548640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страх автономного 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Иллюстрация сгенерирована: оригинальный образ без кадров и логотипов фильмов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ИИ‑агенты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Понятная схема: цель → агент → инструменты → результат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ЦЕЛЬ
пользователя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1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ИИ‑АГЕНТ
модель + память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7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ИНСТРУМЕНТЫ
браузер · файлы ·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4303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РЕЗУЛЬТАТ
готовое действие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13632" y="5623560"/>
            <a:ext cx="8229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8678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контекст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3752" y="5623560"/>
            <a:ext cx="8229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690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план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33872" y="5623560"/>
            <a:ext cx="8229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проверка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644652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0">
                <a:solidFill>
                  <a:srgbClr val="D2DEF6"/>
                </a:solidFill>
                <a:latin typeface="Aptos Display"/>
              </a:rPr>
              <a:t>Смысл: агент не просто отвечает текстом — он берёт задачу, выбирает инструмент и доводит до результата.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ВАУ‑ФАКТЫ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5 фактов, которые цепляют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Термин «ИИ» появился в 1956 году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Первые нейросети старше интернета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Видеокарты из игр ускорили 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1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ChatGPT сделал ИИ массовым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4148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6072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A54C"/>
                </a:solidFill>
                <a:latin typeface="Aptos Display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Следующий шаг — агенты и роботы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ПРОМЕЖУТОЧНЫЙ 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стал инструментом мышления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Сначала машины считали. Потом распознавали. Теперь — создают и действуют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идея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1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правила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данные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генерация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9731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агенты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ЛЮДИ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Кто двигает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За технологиями стоят конкретные учёные, инженеры и предприниматели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учёные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создатели моделей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8896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2048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продуктовые лидеры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96144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69296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инфраструктура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ОСНОВАТЕЛИ ГЛУБОКОГО ОБУЧЕНИЯ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Люди, которые заложили фундамент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Ключевые фигуры нейросетей и машинного обучения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in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264408"/>
            <a:ext cx="932688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56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Geoffrey Hinton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нейросети, обратное распространение ошибки, Нобель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ec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3264408"/>
            <a:ext cx="932688" cy="932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85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Yann LeCun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свёрточные сети, компьютерное зрение, Meta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ng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264408"/>
            <a:ext cx="932688" cy="932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14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Yoshua Bengio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глубокое обучение, этика и безопасность 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18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opf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264408"/>
            <a:ext cx="932688" cy="9326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243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John Hopfield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43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сети Хопфилда, Нобель по физике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989320"/>
            <a:ext cx="1188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DD52"/>
                </a:solidFill>
                <a:latin typeface="Aptos Display"/>
              </a:rPr>
              <a:t>Факт: в 2024 Хинтон и Хопфилд получили Нобелевскую премию по физике за основы машинного обучения.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СОВРЕМЕННЫЕ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Илья Суцкевер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Один из ключевых исследователей эпохи GPT</a:t>
            </a:r>
          </a:p>
        </p:txBody>
      </p:sp>
      <p:pic>
        <p:nvPicPr>
          <p:cNvPr id="8" name="Picture 7" descr="sutsk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08760"/>
            <a:ext cx="2606040" cy="2606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3063240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18688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глубокое обучение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67912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02336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seq2seq: работа с последовательностями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72584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828032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OpenAI / GPT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477256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632704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безопасность 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72000"/>
            <a:ext cx="571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0">
                <a:solidFill>
                  <a:srgbClr val="D2DEF6"/>
                </a:solidFill>
                <a:latin typeface="Aptos Display"/>
              </a:rPr>
              <a:t>Главная мысль: современные чат‑модели появились благодаря исследователям, которые научили нейросети работать с языком, контекстом и рассуждением.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СОЗДАТЕЛИ ПРОДУКТОВ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Кто сделал ИИ массовым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От лабораторий — к миллионам пользователей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lt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127248"/>
            <a:ext cx="932688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39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Sam Altman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OpenAI, ChatGPT как массовый продукт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assab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3127248"/>
            <a:ext cx="932688" cy="932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68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Demis Hassabis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DeepMind, AlphaGo, научный 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eif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127248"/>
            <a:ext cx="932688" cy="932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97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Fei‑Fei 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ImageNet, компьютерное зрение, человекоцентричный 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01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5992" y="3127248"/>
            <a:ext cx="932688" cy="9326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426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Andrew 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26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образование, прикладное машинное обучение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9788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DD52"/>
                </a:solidFill>
                <a:latin typeface="Aptos Display"/>
              </a:rPr>
              <a:t>ИИ стал массовым из‑за сочетания науки, продуктов, данных и образования.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ИНФРАСТРУКТУРА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Люди за вычислениями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Без чипов, облаков и безопасных моделей не было бы ИИ‑бума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88036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u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3172968"/>
            <a:ext cx="932688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31136" y="3136391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Jensen Huang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357530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NVIDIA, GPU‑инфраструктура для 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88036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ade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3172968"/>
            <a:ext cx="932688" cy="932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05856" y="3136391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Satya Nadella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5856" y="357530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Microsoft, облако и Copilot‑экосистема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88036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mo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1" y="3172968"/>
            <a:ext cx="932688" cy="932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80576" y="3136391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Dario Amodei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357530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Anthropic, Claude и безопасные модели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4280" y="2880360"/>
            <a:ext cx="2148840" cy="20116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31168" y="33101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54BE"/>
                </a:solidFill>
                <a:latin typeface="Aptos Display"/>
              </a:rPr>
              <a:t>ФОРМУЛА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3767328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модели
+ данные
+ GPU
+ продукт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ИНСТРУМЕНТЫ РАЗРАБОТЧИКА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Codex, OpenCode и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становится напарником программиста: читает проект, пишет код, запускает проверки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54680"/>
            <a:ext cx="3977639" cy="20574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40E5FF"/>
                </a:solidFill>
                <a:latin typeface="Aptos Display"/>
              </a:rPr>
              <a:t>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OpenAI / 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2DEF6"/>
                </a:solidFill>
                <a:latin typeface="Aptos Display"/>
              </a:rPr>
              <a:t>агент для задач с кодом, терминалом и репозиторием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3154680"/>
            <a:ext cx="3977639" cy="20574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05272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DD52"/>
                </a:solidFill>
                <a:latin typeface="Aptos Display"/>
              </a:rPr>
              <a:t>OpenCode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открытый подход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2DEF6"/>
                </a:solidFill>
                <a:latin typeface="Aptos Display"/>
              </a:rPr>
              <a:t>командная строка и агент для разработки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3154680"/>
            <a:ext cx="3977639" cy="20574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77272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78FFA6"/>
                </a:solidFill>
                <a:latin typeface="Aptos Display"/>
              </a:rPr>
              <a:t>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68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Anthropic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8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2DEF6"/>
                </a:solidFill>
                <a:latin typeface="Aptos Display"/>
              </a:rPr>
              <a:t>помощник для анализа, рефакторинга и архитектуры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контекст проекта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генерация кода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969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тесты и правки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pull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720840"/>
            <a:ext cx="12070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DD52"/>
                </a:solidFill>
                <a:latin typeface="Aptos Display"/>
              </a:rPr>
              <a:t>Полезно студентам: учитесь не “просить код”, а ставить задачу, проверять результат и понимать архитектуру.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АРХИТЕКТУРА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OpenClaw: как устроен ИИ‑агент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Локальный Gateway связывает мессенджеры, модели, инструменты и память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2423160" cy="10058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77056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
WhatsApp
веб‑интерфейс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337560"/>
            <a:ext cx="2560320" cy="1645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57015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Gateway
маршрутизация
сессии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337560"/>
            <a:ext cx="2606040" cy="1645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3557015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Среда агента
Codex / Claude
модель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3337560"/>
            <a:ext cx="2788920" cy="1645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3557015"/>
            <a:ext cx="2514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Инструменты
файлы · web
GitHub · shell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4160520"/>
            <a:ext cx="685800" cy="0"/>
          </a:xfrm>
          <a:prstGeom prst="line">
            <a:avLst/>
          </a:prstGeom>
          <a:ln w="3810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63640" y="4160520"/>
            <a:ext cx="822960" cy="0"/>
          </a:xfrm>
          <a:prstGeom prst="line">
            <a:avLst/>
          </a:prstGeom>
          <a:ln w="3810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0" y="4160520"/>
            <a:ext cx="777240" cy="0"/>
          </a:xfrm>
          <a:prstGeom prst="line">
            <a:avLst/>
          </a:prstGeom>
          <a:ln w="3810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навыки = инструкции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367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плагины = расширения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память = контекст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6988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303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подтверждения = безопасность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720840"/>
            <a:ext cx="1234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D2DEF6"/>
                </a:solidFill>
                <a:latin typeface="Aptos Display"/>
              </a:rPr>
              <a:t>Ключевая идея: OpenClaw — слой управления агентами: каналы → Gateway → среда агента → инструменты → ответ.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ПРАКТИКА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Как студенту работать с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Мини‑алгоритм безопасной и полезной работы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2841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6440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Сформулируй цель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6576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что должно получиться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06324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332841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26440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Дай контекст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6576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файлы, ограничения, критерии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83717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7316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Проверь 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16636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тесты, источники, логика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57200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483717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77316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Улучши итерацией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516636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правки → проверка → финал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ЧТО ЧИТАТЬ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Книга для студентов 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Один учебник, который стоит держать рядом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880360"/>
            <a:ext cx="3657600" cy="3246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337560"/>
            <a:ext cx="2971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DD52"/>
                </a:solidFill>
                <a:latin typeface="Aptos Display"/>
              </a:rPr>
              <a:t>Artificial
Intelligence:
A Modern
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34924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Stuart Russell
Peter Norvig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880360"/>
            <a:ext cx="7680960" cy="3246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324612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40E5FF"/>
                </a:solidFill>
                <a:latin typeface="Aptos Display"/>
              </a:rPr>
              <a:t>Почему именно она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46120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стандартный университетский учебник по 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411480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D52"/>
                </a:solidFill>
                <a:latin typeface="Aptos Display"/>
              </a:rPr>
              <a:t>Что внутри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114800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поиск, логика, вероятности, обучение, NLP, роботы, безопасность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983479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78FFA6"/>
                </a:solidFill>
                <a:latin typeface="Aptos Display"/>
              </a:rPr>
              <a:t>Как читать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983479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не подряд: выбирать главы под задачу и делать конспект схемами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656832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DD52"/>
                </a:solidFill>
                <a:latin typeface="Aptos Display"/>
              </a:rPr>
              <a:t>Факт: AIMA используется более чем в 1500 учебных заведений.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Источник: aima.cs.berkeley.edu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24128"/>
            <a:ext cx="11704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ИИ развивается
через людей, данные
и инструменты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0624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D2DEF6"/>
                </a:solidFill>
                <a:latin typeface="Aptos Display"/>
              </a:rPr>
              <a:t>Главный навык будущего — не знать все модели, а уметь ставить задачу, проверять результат и собирать систему из инструментов.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понимать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проверять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83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создавать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315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автоматизировать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